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2"/>
  </p:notesMasterIdLst>
  <p:sldIdLst>
    <p:sldId id="391" r:id="rId5"/>
    <p:sldId id="354" r:id="rId6"/>
    <p:sldId id="414" r:id="rId7"/>
    <p:sldId id="320" r:id="rId8"/>
    <p:sldId id="352" r:id="rId9"/>
    <p:sldId id="353" r:id="rId10"/>
    <p:sldId id="409" r:id="rId11"/>
    <p:sldId id="419" r:id="rId12"/>
    <p:sldId id="420" r:id="rId13"/>
    <p:sldId id="416" r:id="rId14"/>
    <p:sldId id="417" r:id="rId15"/>
    <p:sldId id="418" r:id="rId16"/>
    <p:sldId id="421" r:id="rId17"/>
    <p:sldId id="422" r:id="rId18"/>
    <p:sldId id="424" r:id="rId19"/>
    <p:sldId id="425" r:id="rId20"/>
    <p:sldId id="426" r:id="rId21"/>
  </p:sldIdLst>
  <p:sldSz cx="9936163" cy="61912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130" userDrawn="1">
          <p15:clr>
            <a:srgbClr val="A4A3A4"/>
          </p15:clr>
        </p15:guide>
        <p15:guide id="2" orient="horz" pos="430" userDrawn="1">
          <p15:clr>
            <a:srgbClr val="A4A3A4"/>
          </p15:clr>
        </p15:guide>
        <p15:guide id="3" orient="horz" pos="2948" userDrawn="1">
          <p15:clr>
            <a:srgbClr val="A4A3A4"/>
          </p15:clr>
        </p15:guide>
        <p15:guide id="4" orient="horz" pos="742" userDrawn="1">
          <p15:clr>
            <a:srgbClr val="A4A3A4"/>
          </p15:clr>
        </p15:guide>
        <p15:guide id="5" orient="horz" pos="3379" userDrawn="1">
          <p15:clr>
            <a:srgbClr val="A4A3A4"/>
          </p15:clr>
        </p15:guide>
        <p15:guide id="6" pos="1156" userDrawn="1">
          <p15:clr>
            <a:srgbClr val="A4A3A4"/>
          </p15:clr>
        </p15:guide>
        <p15:guide id="7" orient="horz" pos="1315" userDrawn="1">
          <p15:clr>
            <a:srgbClr val="A4A3A4"/>
          </p15:clr>
        </p15:guide>
        <p15:guide id="8" pos="6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0000"/>
    <a:srgbClr val="D70010"/>
    <a:srgbClr val="0168B7"/>
    <a:srgbClr val="014984"/>
    <a:srgbClr val="B5B7B6"/>
    <a:srgbClr val="BDBDBD"/>
    <a:srgbClr val="666565"/>
    <a:srgbClr val="B08F5C"/>
    <a:srgbClr val="FF5050"/>
    <a:srgbClr val="D922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EE653B-870D-4E17-9428-830DA07FB233}" v="209" dt="2025-11-14T01:04:56.9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5" d="100"/>
          <a:sy n="75" d="100"/>
        </p:scale>
        <p:origin x="1194" y="54"/>
      </p:cViewPr>
      <p:guideLst>
        <p:guide pos="3130"/>
        <p:guide orient="horz" pos="430"/>
        <p:guide orient="horz" pos="2948"/>
        <p:guide orient="horz" pos="742"/>
        <p:guide orient="horz" pos="3379"/>
        <p:guide pos="1156"/>
        <p:guide orient="horz" pos="1315"/>
        <p:guide pos="6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goodsti.sharepoint.com/sites/2025/Shared%20Documents/&#50976;&#53916;&#48652;%20&#52636;&#50672;/&#51088;&#47308;&#51312;&#49324;/&#48512;&#46041;&#49328;/&#48512;&#46041;&#49328;_&#44068;&#47101;/&#48512;&#46041;&#49328;%20&#51221;&#52293;&#54217;&#44032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goodsti.sharepoint.com/sites/2025/Shared%20Documents/&#50976;&#53916;&#48652;%20&#52636;&#50672;/&#51088;&#47308;&#51312;&#49324;/&#48512;&#46041;&#49328;/&#48512;&#46041;&#49328;_&#44068;&#47101;/&#48512;&#46041;&#49328;%20&#51221;&#52293;&#54217;&#44032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goodsti.sharepoint.com/sites/2025/Shared%20Documents/&#50976;&#53916;&#48652;%20&#52636;&#50672;/&#51088;&#47308;&#51312;&#49324;/&#48512;&#46041;&#49328;/&#48512;&#46041;&#49328;&#49884;&#51109;&#49548;&#48708;&#49900;&#47532;&#51648;&#49688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Sheet3!$C$1</c:f>
              <c:strCache>
                <c:ptCount val="1"/>
                <c:pt idx="0">
                  <c:v>적절하다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Sheet3!$B$2:$B$16</c:f>
              <c:strCache>
                <c:ptCount val="15"/>
                <c:pt idx="0">
                  <c:v>전체</c:v>
                </c:pt>
                <c:pt idx="2">
                  <c:v>서울</c:v>
                </c:pt>
                <c:pt idx="3">
                  <c:v>인천/경기</c:v>
                </c:pt>
                <c:pt idx="4">
                  <c:v>대전/세종/충청</c:v>
                </c:pt>
                <c:pt idx="5">
                  <c:v>광주/전라</c:v>
                </c:pt>
                <c:pt idx="6">
                  <c:v>대구/경북</c:v>
                </c:pt>
                <c:pt idx="7">
                  <c:v>부산/울산/경남</c:v>
                </c:pt>
                <c:pt idx="9">
                  <c:v>18~29세</c:v>
                </c:pt>
                <c:pt idx="10">
                  <c:v>30대</c:v>
                </c:pt>
                <c:pt idx="11">
                  <c:v>40대</c:v>
                </c:pt>
                <c:pt idx="12">
                  <c:v>50대</c:v>
                </c:pt>
                <c:pt idx="13">
                  <c:v>60대</c:v>
                </c:pt>
                <c:pt idx="14">
                  <c:v>70대 이상</c:v>
                </c:pt>
              </c:strCache>
            </c:strRef>
          </c:cat>
          <c:val>
            <c:numRef>
              <c:f>Sheet3!$C$2:$C$16</c:f>
              <c:numCache>
                <c:formatCode>General</c:formatCode>
                <c:ptCount val="15"/>
                <c:pt idx="0" formatCode="0%">
                  <c:v>0.37</c:v>
                </c:pt>
                <c:pt idx="2" formatCode="0%">
                  <c:v>0.36</c:v>
                </c:pt>
                <c:pt idx="3" formatCode="0%">
                  <c:v>0.39</c:v>
                </c:pt>
                <c:pt idx="4" formatCode="0%">
                  <c:v>0.36</c:v>
                </c:pt>
                <c:pt idx="5" formatCode="0%">
                  <c:v>0.49</c:v>
                </c:pt>
                <c:pt idx="6" formatCode="0%">
                  <c:v>0.25</c:v>
                </c:pt>
                <c:pt idx="7" formatCode="0%">
                  <c:v>0.35</c:v>
                </c:pt>
                <c:pt idx="9" formatCode="0%">
                  <c:v>0.31</c:v>
                </c:pt>
                <c:pt idx="10" formatCode="0%">
                  <c:v>0.24</c:v>
                </c:pt>
                <c:pt idx="11" formatCode="0%">
                  <c:v>0.53</c:v>
                </c:pt>
                <c:pt idx="12" formatCode="0%">
                  <c:v>0.48</c:v>
                </c:pt>
                <c:pt idx="13" formatCode="0%">
                  <c:v>0.35</c:v>
                </c:pt>
                <c:pt idx="14" formatCode="0%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FC-4D39-BE1F-D26E08A18FA8}"/>
            </c:ext>
          </c:extLst>
        </c:ser>
        <c:ser>
          <c:idx val="1"/>
          <c:order val="1"/>
          <c:tx>
            <c:strRef>
              <c:f>Sheet3!$D$1</c:f>
              <c:strCache>
                <c:ptCount val="1"/>
                <c:pt idx="0">
                  <c:v>적절하지 않다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numFmt formatCode="0%;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Sheet3!$B$2:$B$16</c:f>
              <c:strCache>
                <c:ptCount val="15"/>
                <c:pt idx="0">
                  <c:v>전체</c:v>
                </c:pt>
                <c:pt idx="2">
                  <c:v>서울</c:v>
                </c:pt>
                <c:pt idx="3">
                  <c:v>인천/경기</c:v>
                </c:pt>
                <c:pt idx="4">
                  <c:v>대전/세종/충청</c:v>
                </c:pt>
                <c:pt idx="5">
                  <c:v>광주/전라</c:v>
                </c:pt>
                <c:pt idx="6">
                  <c:v>대구/경북</c:v>
                </c:pt>
                <c:pt idx="7">
                  <c:v>부산/울산/경남</c:v>
                </c:pt>
                <c:pt idx="9">
                  <c:v>18~29세</c:v>
                </c:pt>
                <c:pt idx="10">
                  <c:v>30대</c:v>
                </c:pt>
                <c:pt idx="11">
                  <c:v>40대</c:v>
                </c:pt>
                <c:pt idx="12">
                  <c:v>50대</c:v>
                </c:pt>
                <c:pt idx="13">
                  <c:v>60대</c:v>
                </c:pt>
                <c:pt idx="14">
                  <c:v>70대 이상</c:v>
                </c:pt>
              </c:strCache>
            </c:strRef>
          </c:cat>
          <c:val>
            <c:numRef>
              <c:f>Sheet3!$D$2:$D$16</c:f>
              <c:numCache>
                <c:formatCode>General</c:formatCode>
                <c:ptCount val="15"/>
                <c:pt idx="0" formatCode="0%">
                  <c:v>-0.44</c:v>
                </c:pt>
                <c:pt idx="2" formatCode="0%">
                  <c:v>-0.49</c:v>
                </c:pt>
                <c:pt idx="3" formatCode="0%">
                  <c:v>-0.43</c:v>
                </c:pt>
                <c:pt idx="4" formatCode="0%">
                  <c:v>-0.37</c:v>
                </c:pt>
                <c:pt idx="5" formatCode="0%">
                  <c:v>-0.28999999999999998</c:v>
                </c:pt>
                <c:pt idx="6" formatCode="0%">
                  <c:v>-0.55000000000000004</c:v>
                </c:pt>
                <c:pt idx="7" formatCode="0%">
                  <c:v>-0.48</c:v>
                </c:pt>
                <c:pt idx="9" formatCode="0%">
                  <c:v>-0.39</c:v>
                </c:pt>
                <c:pt idx="10" formatCode="0%">
                  <c:v>-0.56999999999999995</c:v>
                </c:pt>
                <c:pt idx="11" formatCode="0%">
                  <c:v>-0.35</c:v>
                </c:pt>
                <c:pt idx="12" formatCode="0%">
                  <c:v>-0.4</c:v>
                </c:pt>
                <c:pt idx="13" formatCode="0%">
                  <c:v>-0.51</c:v>
                </c:pt>
                <c:pt idx="14" formatCode="0%">
                  <c:v>-0.45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FC-4D39-BE1F-D26E08A18F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1906415"/>
        <c:axId val="1871905935"/>
      </c:barChart>
      <c:catAx>
        <c:axId val="18719064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pPr>
            <a:endParaRPr lang="ko-KR"/>
          </a:p>
        </c:txPr>
        <c:crossAx val="1871905935"/>
        <c:crosses val="autoZero"/>
        <c:auto val="1"/>
        <c:lblAlgn val="ctr"/>
        <c:lblOffset val="100"/>
        <c:noMultiLvlLbl val="0"/>
      </c:catAx>
      <c:valAx>
        <c:axId val="1871905935"/>
        <c:scaling>
          <c:orientation val="minMax"/>
          <c:min val="-0.6000000000000000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pPr>
            <a:endParaRPr lang="ko-KR"/>
          </a:p>
        </c:txPr>
        <c:crossAx val="18719064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나눔바른고딕" panose="020B0603020101020101" pitchFamily="50" charset="-127"/>
          <a:ea typeface="나눔바른고딕" panose="020B0603020101020101" pitchFamily="50" charset="-127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544307763840175E-2"/>
          <c:y val="1.2062845291191749E-2"/>
          <c:w val="0.90002041785855069"/>
          <c:h val="0.864087513536332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Sheet3!$C$19</c:f>
              <c:strCache>
                <c:ptCount val="1"/>
                <c:pt idx="0">
                  <c:v>적절하다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Sheet3!$B$20:$B$31</c:f>
              <c:strCache>
                <c:ptCount val="12"/>
                <c:pt idx="0">
                  <c:v>전체</c:v>
                </c:pt>
                <c:pt idx="2">
                  <c:v>보수</c:v>
                </c:pt>
                <c:pt idx="3">
                  <c:v>중도</c:v>
                </c:pt>
                <c:pt idx="4">
                  <c:v>진보</c:v>
                </c:pt>
                <c:pt idx="5">
                  <c:v>유보층</c:v>
                </c:pt>
                <c:pt idx="7">
                  <c:v>긍정
평가자</c:v>
                </c:pt>
                <c:pt idx="8">
                  <c:v>부정
평가자</c:v>
                </c:pt>
                <c:pt idx="10">
                  <c:v>있다
(유주택자)</c:v>
                </c:pt>
                <c:pt idx="11">
                  <c:v>없다
(무주택자)</c:v>
                </c:pt>
              </c:strCache>
            </c:strRef>
          </c:cat>
          <c:val>
            <c:numRef>
              <c:f>Sheet3!$C$20:$C$31</c:f>
              <c:numCache>
                <c:formatCode>General</c:formatCode>
                <c:ptCount val="12"/>
                <c:pt idx="0" formatCode="0%">
                  <c:v>0.37</c:v>
                </c:pt>
                <c:pt idx="2" formatCode="0%">
                  <c:v>0.22</c:v>
                </c:pt>
                <c:pt idx="3" formatCode="0%">
                  <c:v>0.39</c:v>
                </c:pt>
                <c:pt idx="4" formatCode="0%">
                  <c:v>0.56999999999999995</c:v>
                </c:pt>
                <c:pt idx="5" formatCode="0%">
                  <c:v>0.24</c:v>
                </c:pt>
                <c:pt idx="7" formatCode="0%">
                  <c:v>0.57999999999999996</c:v>
                </c:pt>
                <c:pt idx="8" formatCode="0%">
                  <c:v>0.09</c:v>
                </c:pt>
                <c:pt idx="10" formatCode="0%">
                  <c:v>0.41</c:v>
                </c:pt>
                <c:pt idx="11" formatCode="0%">
                  <c:v>0.31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EA-450A-B29D-1358C93C4834}"/>
            </c:ext>
          </c:extLst>
        </c:ser>
        <c:ser>
          <c:idx val="1"/>
          <c:order val="1"/>
          <c:tx>
            <c:strRef>
              <c:f>Sheet3!$D$19</c:f>
              <c:strCache>
                <c:ptCount val="1"/>
                <c:pt idx="0">
                  <c:v>적절하지 않다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numFmt formatCode="0%;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Sheet3!$B$20:$B$31</c:f>
              <c:strCache>
                <c:ptCount val="12"/>
                <c:pt idx="0">
                  <c:v>전체</c:v>
                </c:pt>
                <c:pt idx="2">
                  <c:v>보수</c:v>
                </c:pt>
                <c:pt idx="3">
                  <c:v>중도</c:v>
                </c:pt>
                <c:pt idx="4">
                  <c:v>진보</c:v>
                </c:pt>
                <c:pt idx="5">
                  <c:v>유보층</c:v>
                </c:pt>
                <c:pt idx="7">
                  <c:v>긍정
평가자</c:v>
                </c:pt>
                <c:pt idx="8">
                  <c:v>부정
평가자</c:v>
                </c:pt>
                <c:pt idx="10">
                  <c:v>있다
(유주택자)</c:v>
                </c:pt>
                <c:pt idx="11">
                  <c:v>없다
(무주택자)</c:v>
                </c:pt>
              </c:strCache>
            </c:strRef>
          </c:cat>
          <c:val>
            <c:numRef>
              <c:f>Sheet3!$D$20:$D$31</c:f>
              <c:numCache>
                <c:formatCode>General</c:formatCode>
                <c:ptCount val="12"/>
                <c:pt idx="0" formatCode="0%">
                  <c:v>-0.44</c:v>
                </c:pt>
                <c:pt idx="2" formatCode="0%">
                  <c:v>-0.67</c:v>
                </c:pt>
                <c:pt idx="3" formatCode="0%">
                  <c:v>-0.42</c:v>
                </c:pt>
                <c:pt idx="4" formatCode="0%">
                  <c:v>-0.25</c:v>
                </c:pt>
                <c:pt idx="5" formatCode="0%">
                  <c:v>-0.33</c:v>
                </c:pt>
                <c:pt idx="7" formatCode="0%">
                  <c:v>-0.23</c:v>
                </c:pt>
                <c:pt idx="8" formatCode="0%">
                  <c:v>-0.81</c:v>
                </c:pt>
                <c:pt idx="10" formatCode="0%">
                  <c:v>-0.44</c:v>
                </c:pt>
                <c:pt idx="11" formatCode="0%">
                  <c:v>-0.44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EA-450A-B29D-1358C93C48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1906415"/>
        <c:axId val="1871905935"/>
      </c:barChart>
      <c:catAx>
        <c:axId val="18719064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pPr>
            <a:endParaRPr lang="ko-KR"/>
          </a:p>
        </c:txPr>
        <c:crossAx val="1871905935"/>
        <c:crosses val="autoZero"/>
        <c:auto val="1"/>
        <c:lblAlgn val="ctr"/>
        <c:lblOffset val="100"/>
        <c:noMultiLvlLbl val="0"/>
      </c:catAx>
      <c:valAx>
        <c:axId val="18719059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pPr>
            <a:endParaRPr lang="ko-KR"/>
          </a:p>
        </c:txPr>
        <c:crossAx val="18719064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4549941206001369"/>
          <c:y val="5.5369564818383697E-2"/>
          <c:w val="0.2073323697182268"/>
          <c:h val="3.78705284217095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나눔바른고딕" panose="020B0603020101020101" pitchFamily="50" charset="-127"/>
          <a:ea typeface="나눔바른고딕" panose="020B0603020101020101" pitchFamily="50" charset="-127"/>
        </a:defRPr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장기!$A$2</c:f>
              <c:strCache>
                <c:ptCount val="1"/>
                <c:pt idx="0">
                  <c:v>전국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장기!$B$1:$CX$1</c:f>
              <c:strCache>
                <c:ptCount val="101"/>
                <c:pt idx="0">
                  <c:v>2017-05</c:v>
                </c:pt>
                <c:pt idx="1">
                  <c:v>2017-06</c:v>
                </c:pt>
                <c:pt idx="2">
                  <c:v>2017-07</c:v>
                </c:pt>
                <c:pt idx="3">
                  <c:v>2017-08</c:v>
                </c:pt>
                <c:pt idx="4">
                  <c:v>2017-09</c:v>
                </c:pt>
                <c:pt idx="5">
                  <c:v>2017-10</c:v>
                </c:pt>
                <c:pt idx="6">
                  <c:v>2017-11</c:v>
                </c:pt>
                <c:pt idx="7">
                  <c:v>2017-12</c:v>
                </c:pt>
                <c:pt idx="8">
                  <c:v>2018-01</c:v>
                </c:pt>
                <c:pt idx="9">
                  <c:v>2018-02</c:v>
                </c:pt>
                <c:pt idx="10">
                  <c:v>2018-03</c:v>
                </c:pt>
                <c:pt idx="11">
                  <c:v>2018-04</c:v>
                </c:pt>
                <c:pt idx="12">
                  <c:v>2018-05</c:v>
                </c:pt>
                <c:pt idx="13">
                  <c:v>2018-06</c:v>
                </c:pt>
                <c:pt idx="14">
                  <c:v>2018-07</c:v>
                </c:pt>
                <c:pt idx="15">
                  <c:v>2018-08</c:v>
                </c:pt>
                <c:pt idx="16">
                  <c:v>2018-09</c:v>
                </c:pt>
                <c:pt idx="17">
                  <c:v>2018-10</c:v>
                </c:pt>
                <c:pt idx="18">
                  <c:v>2018-11</c:v>
                </c:pt>
                <c:pt idx="19">
                  <c:v>2018-12</c:v>
                </c:pt>
                <c:pt idx="20">
                  <c:v>2019-01</c:v>
                </c:pt>
                <c:pt idx="21">
                  <c:v>2019-02</c:v>
                </c:pt>
                <c:pt idx="22">
                  <c:v>2019-03</c:v>
                </c:pt>
                <c:pt idx="23">
                  <c:v>2019-04</c:v>
                </c:pt>
                <c:pt idx="24">
                  <c:v>2019-05</c:v>
                </c:pt>
                <c:pt idx="25">
                  <c:v>2019-06</c:v>
                </c:pt>
                <c:pt idx="26">
                  <c:v>2019-07</c:v>
                </c:pt>
                <c:pt idx="27">
                  <c:v>2019-08</c:v>
                </c:pt>
                <c:pt idx="28">
                  <c:v>2019-09</c:v>
                </c:pt>
                <c:pt idx="29">
                  <c:v>2019-10</c:v>
                </c:pt>
                <c:pt idx="30">
                  <c:v>2019-11</c:v>
                </c:pt>
                <c:pt idx="31">
                  <c:v>2019-12</c:v>
                </c:pt>
                <c:pt idx="32">
                  <c:v>2020-01</c:v>
                </c:pt>
                <c:pt idx="33">
                  <c:v>2020-02</c:v>
                </c:pt>
                <c:pt idx="34">
                  <c:v>2020-03</c:v>
                </c:pt>
                <c:pt idx="35">
                  <c:v>2020-04</c:v>
                </c:pt>
                <c:pt idx="36">
                  <c:v>2020-05</c:v>
                </c:pt>
                <c:pt idx="37">
                  <c:v>2020-06</c:v>
                </c:pt>
                <c:pt idx="38">
                  <c:v>2020-07</c:v>
                </c:pt>
                <c:pt idx="39">
                  <c:v>2020-08</c:v>
                </c:pt>
                <c:pt idx="40">
                  <c:v>2020-09</c:v>
                </c:pt>
                <c:pt idx="41">
                  <c:v>2020-10</c:v>
                </c:pt>
                <c:pt idx="42">
                  <c:v>2020-11</c:v>
                </c:pt>
                <c:pt idx="43">
                  <c:v>2020-12</c:v>
                </c:pt>
                <c:pt idx="44">
                  <c:v>2021-01</c:v>
                </c:pt>
                <c:pt idx="45">
                  <c:v>2021-02</c:v>
                </c:pt>
                <c:pt idx="46">
                  <c:v>2021-03</c:v>
                </c:pt>
                <c:pt idx="47">
                  <c:v>2021-04</c:v>
                </c:pt>
                <c:pt idx="48">
                  <c:v>2021-05</c:v>
                </c:pt>
                <c:pt idx="49">
                  <c:v>2021-06</c:v>
                </c:pt>
                <c:pt idx="50">
                  <c:v>2021-07</c:v>
                </c:pt>
                <c:pt idx="51">
                  <c:v>2021-08</c:v>
                </c:pt>
                <c:pt idx="52">
                  <c:v>2021-09</c:v>
                </c:pt>
                <c:pt idx="53">
                  <c:v>2021-10</c:v>
                </c:pt>
                <c:pt idx="54">
                  <c:v>2021-11</c:v>
                </c:pt>
                <c:pt idx="55">
                  <c:v>2021-12</c:v>
                </c:pt>
                <c:pt idx="56">
                  <c:v>2022-01</c:v>
                </c:pt>
                <c:pt idx="57">
                  <c:v>2022-02</c:v>
                </c:pt>
                <c:pt idx="58">
                  <c:v>2022-03</c:v>
                </c:pt>
                <c:pt idx="59">
                  <c:v>2022-04</c:v>
                </c:pt>
                <c:pt idx="60">
                  <c:v>2022-05</c:v>
                </c:pt>
                <c:pt idx="61">
                  <c:v>2022-06</c:v>
                </c:pt>
                <c:pt idx="62">
                  <c:v>2022-07</c:v>
                </c:pt>
                <c:pt idx="63">
                  <c:v>2022-08</c:v>
                </c:pt>
                <c:pt idx="64">
                  <c:v>2022-09</c:v>
                </c:pt>
                <c:pt idx="65">
                  <c:v>2022-10</c:v>
                </c:pt>
                <c:pt idx="66">
                  <c:v>2022-11</c:v>
                </c:pt>
                <c:pt idx="67">
                  <c:v>2022-12</c:v>
                </c:pt>
                <c:pt idx="68">
                  <c:v>2023-01</c:v>
                </c:pt>
                <c:pt idx="69">
                  <c:v>2023-02</c:v>
                </c:pt>
                <c:pt idx="70">
                  <c:v>2023-03</c:v>
                </c:pt>
                <c:pt idx="71">
                  <c:v>2023-04</c:v>
                </c:pt>
                <c:pt idx="72">
                  <c:v>2023-05</c:v>
                </c:pt>
                <c:pt idx="73">
                  <c:v>2023-06</c:v>
                </c:pt>
                <c:pt idx="74">
                  <c:v>2023-07</c:v>
                </c:pt>
                <c:pt idx="75">
                  <c:v>2023-08</c:v>
                </c:pt>
                <c:pt idx="76">
                  <c:v>2023-09</c:v>
                </c:pt>
                <c:pt idx="77">
                  <c:v>2023-10</c:v>
                </c:pt>
                <c:pt idx="78">
                  <c:v>2023-11</c:v>
                </c:pt>
                <c:pt idx="79">
                  <c:v>2023-12</c:v>
                </c:pt>
                <c:pt idx="80">
                  <c:v>2024-01</c:v>
                </c:pt>
                <c:pt idx="81">
                  <c:v>2024-02</c:v>
                </c:pt>
                <c:pt idx="82">
                  <c:v>2024-03</c:v>
                </c:pt>
                <c:pt idx="83">
                  <c:v>2024-04</c:v>
                </c:pt>
                <c:pt idx="84">
                  <c:v>2024-05</c:v>
                </c:pt>
                <c:pt idx="85">
                  <c:v>2024-06</c:v>
                </c:pt>
                <c:pt idx="86">
                  <c:v>2024-07</c:v>
                </c:pt>
                <c:pt idx="87">
                  <c:v>2024-08</c:v>
                </c:pt>
                <c:pt idx="88">
                  <c:v>2024-09</c:v>
                </c:pt>
                <c:pt idx="89">
                  <c:v>2024-10</c:v>
                </c:pt>
                <c:pt idx="90">
                  <c:v>2024-11</c:v>
                </c:pt>
                <c:pt idx="91">
                  <c:v>2024-12</c:v>
                </c:pt>
                <c:pt idx="92">
                  <c:v>2025-01</c:v>
                </c:pt>
                <c:pt idx="93">
                  <c:v>2025-02</c:v>
                </c:pt>
                <c:pt idx="94">
                  <c:v>2025-03</c:v>
                </c:pt>
                <c:pt idx="95">
                  <c:v>2025-04</c:v>
                </c:pt>
                <c:pt idx="96">
                  <c:v>2025-05</c:v>
                </c:pt>
                <c:pt idx="97">
                  <c:v>2025-06</c:v>
                </c:pt>
                <c:pt idx="98">
                  <c:v>2025-07</c:v>
                </c:pt>
                <c:pt idx="99">
                  <c:v>2025-08</c:v>
                </c:pt>
                <c:pt idx="100">
                  <c:v>2025-09</c:v>
                </c:pt>
              </c:strCache>
            </c:strRef>
          </c:cat>
          <c:val>
            <c:numRef>
              <c:f>장기!$B$2:$CX$2</c:f>
              <c:numCache>
                <c:formatCode>General</c:formatCode>
                <c:ptCount val="101"/>
                <c:pt idx="0">
                  <c:v>115.2</c:v>
                </c:pt>
                <c:pt idx="1">
                  <c:v>114.2</c:v>
                </c:pt>
                <c:pt idx="2">
                  <c:v>118.1</c:v>
                </c:pt>
                <c:pt idx="3">
                  <c:v>112.1</c:v>
                </c:pt>
                <c:pt idx="4">
                  <c:v>110.5</c:v>
                </c:pt>
                <c:pt idx="5">
                  <c:v>109.9</c:v>
                </c:pt>
                <c:pt idx="6">
                  <c:v>106.4</c:v>
                </c:pt>
                <c:pt idx="7">
                  <c:v>102.2</c:v>
                </c:pt>
                <c:pt idx="8">
                  <c:v>109</c:v>
                </c:pt>
                <c:pt idx="9">
                  <c:v>110</c:v>
                </c:pt>
                <c:pt idx="10">
                  <c:v>106</c:v>
                </c:pt>
                <c:pt idx="11">
                  <c:v>100.2</c:v>
                </c:pt>
                <c:pt idx="12">
                  <c:v>99</c:v>
                </c:pt>
                <c:pt idx="13">
                  <c:v>96.3</c:v>
                </c:pt>
                <c:pt idx="14">
                  <c:v>98.3</c:v>
                </c:pt>
                <c:pt idx="15">
                  <c:v>106.7</c:v>
                </c:pt>
                <c:pt idx="16">
                  <c:v>110</c:v>
                </c:pt>
                <c:pt idx="17">
                  <c:v>103.5</c:v>
                </c:pt>
                <c:pt idx="18">
                  <c:v>96.1</c:v>
                </c:pt>
                <c:pt idx="19">
                  <c:v>90.7</c:v>
                </c:pt>
                <c:pt idx="20">
                  <c:v>90</c:v>
                </c:pt>
                <c:pt idx="21">
                  <c:v>92.7</c:v>
                </c:pt>
                <c:pt idx="22">
                  <c:v>90.9</c:v>
                </c:pt>
                <c:pt idx="23">
                  <c:v>87.7</c:v>
                </c:pt>
                <c:pt idx="24">
                  <c:v>91.3</c:v>
                </c:pt>
                <c:pt idx="25">
                  <c:v>97.9</c:v>
                </c:pt>
                <c:pt idx="26">
                  <c:v>101.7</c:v>
                </c:pt>
                <c:pt idx="27">
                  <c:v>103.5</c:v>
                </c:pt>
                <c:pt idx="28">
                  <c:v>108.4</c:v>
                </c:pt>
                <c:pt idx="29">
                  <c:v>112.7</c:v>
                </c:pt>
                <c:pt idx="30">
                  <c:v>114.4</c:v>
                </c:pt>
                <c:pt idx="31">
                  <c:v>114.3</c:v>
                </c:pt>
                <c:pt idx="32">
                  <c:v>113</c:v>
                </c:pt>
                <c:pt idx="33">
                  <c:v>115.9</c:v>
                </c:pt>
                <c:pt idx="34">
                  <c:v>107</c:v>
                </c:pt>
                <c:pt idx="35">
                  <c:v>103.1</c:v>
                </c:pt>
                <c:pt idx="36">
                  <c:v>109.8</c:v>
                </c:pt>
                <c:pt idx="37">
                  <c:v>120.2</c:v>
                </c:pt>
                <c:pt idx="38">
                  <c:v>121.2</c:v>
                </c:pt>
                <c:pt idx="39">
                  <c:v>120.3</c:v>
                </c:pt>
                <c:pt idx="40">
                  <c:v>121.1</c:v>
                </c:pt>
                <c:pt idx="41">
                  <c:v>128.19999999999999</c:v>
                </c:pt>
                <c:pt idx="42">
                  <c:v>131.69999999999999</c:v>
                </c:pt>
                <c:pt idx="43">
                  <c:v>127.7</c:v>
                </c:pt>
                <c:pt idx="44">
                  <c:v>125.3</c:v>
                </c:pt>
                <c:pt idx="45">
                  <c:v>123.4</c:v>
                </c:pt>
                <c:pt idx="46">
                  <c:v>120.1</c:v>
                </c:pt>
                <c:pt idx="47">
                  <c:v>117.8</c:v>
                </c:pt>
                <c:pt idx="48">
                  <c:v>121.7</c:v>
                </c:pt>
                <c:pt idx="49">
                  <c:v>125.2</c:v>
                </c:pt>
                <c:pt idx="50">
                  <c:v>126.4</c:v>
                </c:pt>
                <c:pt idx="51">
                  <c:v>127.8</c:v>
                </c:pt>
                <c:pt idx="52">
                  <c:v>127</c:v>
                </c:pt>
                <c:pt idx="53">
                  <c:v>118.9</c:v>
                </c:pt>
                <c:pt idx="54">
                  <c:v>111.6</c:v>
                </c:pt>
                <c:pt idx="55">
                  <c:v>104.3</c:v>
                </c:pt>
                <c:pt idx="56">
                  <c:v>101.9</c:v>
                </c:pt>
                <c:pt idx="57">
                  <c:v>103.7</c:v>
                </c:pt>
                <c:pt idx="58">
                  <c:v>106.5</c:v>
                </c:pt>
                <c:pt idx="59">
                  <c:v>108.9</c:v>
                </c:pt>
                <c:pt idx="60">
                  <c:v>104.5</c:v>
                </c:pt>
                <c:pt idx="61">
                  <c:v>100.2</c:v>
                </c:pt>
                <c:pt idx="62">
                  <c:v>93.6</c:v>
                </c:pt>
                <c:pt idx="63">
                  <c:v>89.4</c:v>
                </c:pt>
                <c:pt idx="64">
                  <c:v>88</c:v>
                </c:pt>
                <c:pt idx="65">
                  <c:v>80.7</c:v>
                </c:pt>
                <c:pt idx="66">
                  <c:v>79.5</c:v>
                </c:pt>
                <c:pt idx="67">
                  <c:v>78</c:v>
                </c:pt>
                <c:pt idx="68">
                  <c:v>83.9</c:v>
                </c:pt>
                <c:pt idx="69">
                  <c:v>93.2</c:v>
                </c:pt>
                <c:pt idx="70">
                  <c:v>94.9</c:v>
                </c:pt>
                <c:pt idx="71">
                  <c:v>97.4</c:v>
                </c:pt>
                <c:pt idx="72">
                  <c:v>100.2</c:v>
                </c:pt>
                <c:pt idx="73">
                  <c:v>101.6</c:v>
                </c:pt>
                <c:pt idx="74">
                  <c:v>104.5</c:v>
                </c:pt>
                <c:pt idx="75">
                  <c:v>107.2</c:v>
                </c:pt>
                <c:pt idx="76">
                  <c:v>108.6</c:v>
                </c:pt>
                <c:pt idx="77">
                  <c:v>103.2</c:v>
                </c:pt>
                <c:pt idx="78">
                  <c:v>97.1</c:v>
                </c:pt>
                <c:pt idx="79">
                  <c:v>95.3</c:v>
                </c:pt>
                <c:pt idx="80">
                  <c:v>98.1</c:v>
                </c:pt>
                <c:pt idx="81">
                  <c:v>101.7</c:v>
                </c:pt>
                <c:pt idx="82">
                  <c:v>100.2</c:v>
                </c:pt>
                <c:pt idx="83">
                  <c:v>100.5</c:v>
                </c:pt>
                <c:pt idx="84">
                  <c:v>102.6</c:v>
                </c:pt>
                <c:pt idx="85">
                  <c:v>105.6</c:v>
                </c:pt>
                <c:pt idx="86">
                  <c:v>109.4</c:v>
                </c:pt>
                <c:pt idx="87">
                  <c:v>110.6</c:v>
                </c:pt>
                <c:pt idx="88">
                  <c:v>107.6</c:v>
                </c:pt>
                <c:pt idx="89">
                  <c:v>103.4</c:v>
                </c:pt>
                <c:pt idx="90">
                  <c:v>98.5</c:v>
                </c:pt>
                <c:pt idx="91">
                  <c:v>96.5</c:v>
                </c:pt>
                <c:pt idx="92">
                  <c:v>98.3</c:v>
                </c:pt>
                <c:pt idx="93">
                  <c:v>103</c:v>
                </c:pt>
                <c:pt idx="94">
                  <c:v>106</c:v>
                </c:pt>
                <c:pt idx="95">
                  <c:v>102.7</c:v>
                </c:pt>
                <c:pt idx="96">
                  <c:v>104.7</c:v>
                </c:pt>
                <c:pt idx="97">
                  <c:v>112.1</c:v>
                </c:pt>
                <c:pt idx="98">
                  <c:v>103.7</c:v>
                </c:pt>
                <c:pt idx="99">
                  <c:v>105.1</c:v>
                </c:pt>
                <c:pt idx="100">
                  <c:v>109.1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B76-48A2-B285-E61051ED40B8}"/>
            </c:ext>
          </c:extLst>
        </c:ser>
        <c:ser>
          <c:idx val="2"/>
          <c:order val="2"/>
          <c:tx>
            <c:strRef>
              <c:f>장기!$A$4</c:f>
              <c:strCache>
                <c:ptCount val="1"/>
                <c:pt idx="0">
                  <c:v>서울특별시</c:v>
                </c:pt>
              </c:strCache>
            </c:strRef>
          </c:tx>
          <c:spPr>
            <a:ln w="28575" cap="rnd">
              <a:solidFill>
                <a:srgbClr val="C0504D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0504D"/>
              </a:solidFill>
              <a:ln w="9525">
                <a:solidFill>
                  <a:srgbClr val="C00000">
                    <a:alpha val="94000"/>
                  </a:srgbClr>
                </a:solidFill>
              </a:ln>
              <a:effectLst/>
            </c:spPr>
          </c:marker>
          <c:dLbls>
            <c:dLbl>
              <c:idx val="16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B76-48A2-B285-E61051ED40B8}"/>
                </c:ext>
              </c:extLst>
            </c:dLbl>
            <c:dLbl>
              <c:idx val="38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B76-48A2-B285-E61051ED40B8}"/>
                </c:ext>
              </c:extLst>
            </c:dLbl>
            <c:dLbl>
              <c:idx val="51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B76-48A2-B285-E61051ED40B8}"/>
                </c:ext>
              </c:extLst>
            </c:dLbl>
            <c:dLbl>
              <c:idx val="87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B76-48A2-B285-E61051ED40B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장기!$B$1:$CX$1</c:f>
              <c:strCache>
                <c:ptCount val="101"/>
                <c:pt idx="0">
                  <c:v>2017-05</c:v>
                </c:pt>
                <c:pt idx="1">
                  <c:v>2017-06</c:v>
                </c:pt>
                <c:pt idx="2">
                  <c:v>2017-07</c:v>
                </c:pt>
                <c:pt idx="3">
                  <c:v>2017-08</c:v>
                </c:pt>
                <c:pt idx="4">
                  <c:v>2017-09</c:v>
                </c:pt>
                <c:pt idx="5">
                  <c:v>2017-10</c:v>
                </c:pt>
                <c:pt idx="6">
                  <c:v>2017-11</c:v>
                </c:pt>
                <c:pt idx="7">
                  <c:v>2017-12</c:v>
                </c:pt>
                <c:pt idx="8">
                  <c:v>2018-01</c:v>
                </c:pt>
                <c:pt idx="9">
                  <c:v>2018-02</c:v>
                </c:pt>
                <c:pt idx="10">
                  <c:v>2018-03</c:v>
                </c:pt>
                <c:pt idx="11">
                  <c:v>2018-04</c:v>
                </c:pt>
                <c:pt idx="12">
                  <c:v>2018-05</c:v>
                </c:pt>
                <c:pt idx="13">
                  <c:v>2018-06</c:v>
                </c:pt>
                <c:pt idx="14">
                  <c:v>2018-07</c:v>
                </c:pt>
                <c:pt idx="15">
                  <c:v>2018-08</c:v>
                </c:pt>
                <c:pt idx="16">
                  <c:v>2018-09</c:v>
                </c:pt>
                <c:pt idx="17">
                  <c:v>2018-10</c:v>
                </c:pt>
                <c:pt idx="18">
                  <c:v>2018-11</c:v>
                </c:pt>
                <c:pt idx="19">
                  <c:v>2018-12</c:v>
                </c:pt>
                <c:pt idx="20">
                  <c:v>2019-01</c:v>
                </c:pt>
                <c:pt idx="21">
                  <c:v>2019-02</c:v>
                </c:pt>
                <c:pt idx="22">
                  <c:v>2019-03</c:v>
                </c:pt>
                <c:pt idx="23">
                  <c:v>2019-04</c:v>
                </c:pt>
                <c:pt idx="24">
                  <c:v>2019-05</c:v>
                </c:pt>
                <c:pt idx="25">
                  <c:v>2019-06</c:v>
                </c:pt>
                <c:pt idx="26">
                  <c:v>2019-07</c:v>
                </c:pt>
                <c:pt idx="27">
                  <c:v>2019-08</c:v>
                </c:pt>
                <c:pt idx="28">
                  <c:v>2019-09</c:v>
                </c:pt>
                <c:pt idx="29">
                  <c:v>2019-10</c:v>
                </c:pt>
                <c:pt idx="30">
                  <c:v>2019-11</c:v>
                </c:pt>
                <c:pt idx="31">
                  <c:v>2019-12</c:v>
                </c:pt>
                <c:pt idx="32">
                  <c:v>2020-01</c:v>
                </c:pt>
                <c:pt idx="33">
                  <c:v>2020-02</c:v>
                </c:pt>
                <c:pt idx="34">
                  <c:v>2020-03</c:v>
                </c:pt>
                <c:pt idx="35">
                  <c:v>2020-04</c:v>
                </c:pt>
                <c:pt idx="36">
                  <c:v>2020-05</c:v>
                </c:pt>
                <c:pt idx="37">
                  <c:v>2020-06</c:v>
                </c:pt>
                <c:pt idx="38">
                  <c:v>2020-07</c:v>
                </c:pt>
                <c:pt idx="39">
                  <c:v>2020-08</c:v>
                </c:pt>
                <c:pt idx="40">
                  <c:v>2020-09</c:v>
                </c:pt>
                <c:pt idx="41">
                  <c:v>2020-10</c:v>
                </c:pt>
                <c:pt idx="42">
                  <c:v>2020-11</c:v>
                </c:pt>
                <c:pt idx="43">
                  <c:v>2020-12</c:v>
                </c:pt>
                <c:pt idx="44">
                  <c:v>2021-01</c:v>
                </c:pt>
                <c:pt idx="45">
                  <c:v>2021-02</c:v>
                </c:pt>
                <c:pt idx="46">
                  <c:v>2021-03</c:v>
                </c:pt>
                <c:pt idx="47">
                  <c:v>2021-04</c:v>
                </c:pt>
                <c:pt idx="48">
                  <c:v>2021-05</c:v>
                </c:pt>
                <c:pt idx="49">
                  <c:v>2021-06</c:v>
                </c:pt>
                <c:pt idx="50">
                  <c:v>2021-07</c:v>
                </c:pt>
                <c:pt idx="51">
                  <c:v>2021-08</c:v>
                </c:pt>
                <c:pt idx="52">
                  <c:v>2021-09</c:v>
                </c:pt>
                <c:pt idx="53">
                  <c:v>2021-10</c:v>
                </c:pt>
                <c:pt idx="54">
                  <c:v>2021-11</c:v>
                </c:pt>
                <c:pt idx="55">
                  <c:v>2021-12</c:v>
                </c:pt>
                <c:pt idx="56">
                  <c:v>2022-01</c:v>
                </c:pt>
                <c:pt idx="57">
                  <c:v>2022-02</c:v>
                </c:pt>
                <c:pt idx="58">
                  <c:v>2022-03</c:v>
                </c:pt>
                <c:pt idx="59">
                  <c:v>2022-04</c:v>
                </c:pt>
                <c:pt idx="60">
                  <c:v>2022-05</c:v>
                </c:pt>
                <c:pt idx="61">
                  <c:v>2022-06</c:v>
                </c:pt>
                <c:pt idx="62">
                  <c:v>2022-07</c:v>
                </c:pt>
                <c:pt idx="63">
                  <c:v>2022-08</c:v>
                </c:pt>
                <c:pt idx="64">
                  <c:v>2022-09</c:v>
                </c:pt>
                <c:pt idx="65">
                  <c:v>2022-10</c:v>
                </c:pt>
                <c:pt idx="66">
                  <c:v>2022-11</c:v>
                </c:pt>
                <c:pt idx="67">
                  <c:v>2022-12</c:v>
                </c:pt>
                <c:pt idx="68">
                  <c:v>2023-01</c:v>
                </c:pt>
                <c:pt idx="69">
                  <c:v>2023-02</c:v>
                </c:pt>
                <c:pt idx="70">
                  <c:v>2023-03</c:v>
                </c:pt>
                <c:pt idx="71">
                  <c:v>2023-04</c:v>
                </c:pt>
                <c:pt idx="72">
                  <c:v>2023-05</c:v>
                </c:pt>
                <c:pt idx="73">
                  <c:v>2023-06</c:v>
                </c:pt>
                <c:pt idx="74">
                  <c:v>2023-07</c:v>
                </c:pt>
                <c:pt idx="75">
                  <c:v>2023-08</c:v>
                </c:pt>
                <c:pt idx="76">
                  <c:v>2023-09</c:v>
                </c:pt>
                <c:pt idx="77">
                  <c:v>2023-10</c:v>
                </c:pt>
                <c:pt idx="78">
                  <c:v>2023-11</c:v>
                </c:pt>
                <c:pt idx="79">
                  <c:v>2023-12</c:v>
                </c:pt>
                <c:pt idx="80">
                  <c:v>2024-01</c:v>
                </c:pt>
                <c:pt idx="81">
                  <c:v>2024-02</c:v>
                </c:pt>
                <c:pt idx="82">
                  <c:v>2024-03</c:v>
                </c:pt>
                <c:pt idx="83">
                  <c:v>2024-04</c:v>
                </c:pt>
                <c:pt idx="84">
                  <c:v>2024-05</c:v>
                </c:pt>
                <c:pt idx="85">
                  <c:v>2024-06</c:v>
                </c:pt>
                <c:pt idx="86">
                  <c:v>2024-07</c:v>
                </c:pt>
                <c:pt idx="87">
                  <c:v>2024-08</c:v>
                </c:pt>
                <c:pt idx="88">
                  <c:v>2024-09</c:v>
                </c:pt>
                <c:pt idx="89">
                  <c:v>2024-10</c:v>
                </c:pt>
                <c:pt idx="90">
                  <c:v>2024-11</c:v>
                </c:pt>
                <c:pt idx="91">
                  <c:v>2024-12</c:v>
                </c:pt>
                <c:pt idx="92">
                  <c:v>2025-01</c:v>
                </c:pt>
                <c:pt idx="93">
                  <c:v>2025-02</c:v>
                </c:pt>
                <c:pt idx="94">
                  <c:v>2025-03</c:v>
                </c:pt>
                <c:pt idx="95">
                  <c:v>2025-04</c:v>
                </c:pt>
                <c:pt idx="96">
                  <c:v>2025-05</c:v>
                </c:pt>
                <c:pt idx="97">
                  <c:v>2025-06</c:v>
                </c:pt>
                <c:pt idx="98">
                  <c:v>2025-07</c:v>
                </c:pt>
                <c:pt idx="99">
                  <c:v>2025-08</c:v>
                </c:pt>
                <c:pt idx="100">
                  <c:v>2025-09</c:v>
                </c:pt>
              </c:strCache>
            </c:strRef>
          </c:cat>
          <c:val>
            <c:numRef>
              <c:f>장기!$B$4:$CX$4</c:f>
              <c:numCache>
                <c:formatCode>General</c:formatCode>
                <c:ptCount val="101"/>
                <c:pt idx="0">
                  <c:v>126.2</c:v>
                </c:pt>
                <c:pt idx="1">
                  <c:v>125.4</c:v>
                </c:pt>
                <c:pt idx="2">
                  <c:v>134.1</c:v>
                </c:pt>
                <c:pt idx="3">
                  <c:v>116.4</c:v>
                </c:pt>
                <c:pt idx="4">
                  <c:v>117.3</c:v>
                </c:pt>
                <c:pt idx="5">
                  <c:v>119.7</c:v>
                </c:pt>
                <c:pt idx="6">
                  <c:v>120.2</c:v>
                </c:pt>
                <c:pt idx="7">
                  <c:v>114.8</c:v>
                </c:pt>
                <c:pt idx="8">
                  <c:v>126.8</c:v>
                </c:pt>
                <c:pt idx="9">
                  <c:v>126.3</c:v>
                </c:pt>
                <c:pt idx="10">
                  <c:v>116.3</c:v>
                </c:pt>
                <c:pt idx="11">
                  <c:v>108.3</c:v>
                </c:pt>
                <c:pt idx="12">
                  <c:v>109.8</c:v>
                </c:pt>
                <c:pt idx="13">
                  <c:v>106.3</c:v>
                </c:pt>
                <c:pt idx="14">
                  <c:v>111.9</c:v>
                </c:pt>
                <c:pt idx="15">
                  <c:v>127.5</c:v>
                </c:pt>
                <c:pt idx="16">
                  <c:v>126.2</c:v>
                </c:pt>
                <c:pt idx="17">
                  <c:v>115.1</c:v>
                </c:pt>
                <c:pt idx="18">
                  <c:v>106.5</c:v>
                </c:pt>
                <c:pt idx="19">
                  <c:v>93.9</c:v>
                </c:pt>
                <c:pt idx="20">
                  <c:v>91.8</c:v>
                </c:pt>
                <c:pt idx="21">
                  <c:v>94.5</c:v>
                </c:pt>
                <c:pt idx="22">
                  <c:v>93.5</c:v>
                </c:pt>
                <c:pt idx="23">
                  <c:v>92.1</c:v>
                </c:pt>
                <c:pt idx="24">
                  <c:v>98.6</c:v>
                </c:pt>
                <c:pt idx="25">
                  <c:v>111.2</c:v>
                </c:pt>
                <c:pt idx="26">
                  <c:v>119.4</c:v>
                </c:pt>
                <c:pt idx="27">
                  <c:v>118.2</c:v>
                </c:pt>
                <c:pt idx="28">
                  <c:v>122.5</c:v>
                </c:pt>
                <c:pt idx="29">
                  <c:v>130.6</c:v>
                </c:pt>
                <c:pt idx="30">
                  <c:v>129.69999999999999</c:v>
                </c:pt>
                <c:pt idx="31">
                  <c:v>125.6</c:v>
                </c:pt>
                <c:pt idx="32">
                  <c:v>116.5</c:v>
                </c:pt>
                <c:pt idx="33">
                  <c:v>120.1</c:v>
                </c:pt>
                <c:pt idx="34">
                  <c:v>109.8</c:v>
                </c:pt>
                <c:pt idx="35">
                  <c:v>102.2</c:v>
                </c:pt>
                <c:pt idx="36">
                  <c:v>112.5</c:v>
                </c:pt>
                <c:pt idx="37">
                  <c:v>131.9</c:v>
                </c:pt>
                <c:pt idx="38">
                  <c:v>139.4</c:v>
                </c:pt>
                <c:pt idx="39">
                  <c:v>131.9</c:v>
                </c:pt>
                <c:pt idx="40">
                  <c:v>127.3</c:v>
                </c:pt>
                <c:pt idx="41">
                  <c:v>131.6</c:v>
                </c:pt>
                <c:pt idx="42">
                  <c:v>133.19999999999999</c:v>
                </c:pt>
                <c:pt idx="43">
                  <c:v>130.80000000000001</c:v>
                </c:pt>
                <c:pt idx="44">
                  <c:v>129.1</c:v>
                </c:pt>
                <c:pt idx="45">
                  <c:v>124.7</c:v>
                </c:pt>
                <c:pt idx="46">
                  <c:v>116.6</c:v>
                </c:pt>
                <c:pt idx="47">
                  <c:v>117.1</c:v>
                </c:pt>
                <c:pt idx="48">
                  <c:v>124.1</c:v>
                </c:pt>
                <c:pt idx="49">
                  <c:v>127.9</c:v>
                </c:pt>
                <c:pt idx="50">
                  <c:v>130.69999999999999</c:v>
                </c:pt>
                <c:pt idx="51">
                  <c:v>132.9</c:v>
                </c:pt>
                <c:pt idx="52">
                  <c:v>129.5</c:v>
                </c:pt>
                <c:pt idx="53">
                  <c:v>118.2</c:v>
                </c:pt>
                <c:pt idx="54">
                  <c:v>111.3</c:v>
                </c:pt>
                <c:pt idx="55">
                  <c:v>102</c:v>
                </c:pt>
                <c:pt idx="56">
                  <c:v>100.7</c:v>
                </c:pt>
                <c:pt idx="57">
                  <c:v>101.2</c:v>
                </c:pt>
                <c:pt idx="58">
                  <c:v>107.1</c:v>
                </c:pt>
                <c:pt idx="59">
                  <c:v>113</c:v>
                </c:pt>
                <c:pt idx="60">
                  <c:v>107.3</c:v>
                </c:pt>
                <c:pt idx="61">
                  <c:v>100.9</c:v>
                </c:pt>
                <c:pt idx="62">
                  <c:v>93</c:v>
                </c:pt>
                <c:pt idx="63">
                  <c:v>88.3</c:v>
                </c:pt>
                <c:pt idx="64">
                  <c:v>88.5</c:v>
                </c:pt>
                <c:pt idx="65">
                  <c:v>78.7</c:v>
                </c:pt>
                <c:pt idx="66">
                  <c:v>74.3</c:v>
                </c:pt>
                <c:pt idx="67">
                  <c:v>76</c:v>
                </c:pt>
                <c:pt idx="68">
                  <c:v>82.8</c:v>
                </c:pt>
                <c:pt idx="69">
                  <c:v>93.7</c:v>
                </c:pt>
                <c:pt idx="70">
                  <c:v>97.5</c:v>
                </c:pt>
                <c:pt idx="71">
                  <c:v>99.3</c:v>
                </c:pt>
                <c:pt idx="72">
                  <c:v>103.7</c:v>
                </c:pt>
                <c:pt idx="73">
                  <c:v>105.3</c:v>
                </c:pt>
                <c:pt idx="74">
                  <c:v>109.8</c:v>
                </c:pt>
                <c:pt idx="75">
                  <c:v>113.4</c:v>
                </c:pt>
                <c:pt idx="76">
                  <c:v>114.6</c:v>
                </c:pt>
                <c:pt idx="77">
                  <c:v>108.8</c:v>
                </c:pt>
                <c:pt idx="78">
                  <c:v>100.5</c:v>
                </c:pt>
                <c:pt idx="79">
                  <c:v>97.4</c:v>
                </c:pt>
                <c:pt idx="80">
                  <c:v>101.1</c:v>
                </c:pt>
                <c:pt idx="81">
                  <c:v>106.5</c:v>
                </c:pt>
                <c:pt idx="82">
                  <c:v>106.8</c:v>
                </c:pt>
                <c:pt idx="83">
                  <c:v>110</c:v>
                </c:pt>
                <c:pt idx="84">
                  <c:v>113</c:v>
                </c:pt>
                <c:pt idx="85">
                  <c:v>120.1</c:v>
                </c:pt>
                <c:pt idx="86">
                  <c:v>123.5</c:v>
                </c:pt>
                <c:pt idx="87">
                  <c:v>125.6</c:v>
                </c:pt>
                <c:pt idx="88">
                  <c:v>115.3</c:v>
                </c:pt>
                <c:pt idx="89">
                  <c:v>108.9</c:v>
                </c:pt>
                <c:pt idx="90">
                  <c:v>102.7</c:v>
                </c:pt>
                <c:pt idx="91">
                  <c:v>101.7</c:v>
                </c:pt>
                <c:pt idx="92">
                  <c:v>103.8</c:v>
                </c:pt>
                <c:pt idx="93">
                  <c:v>113.6</c:v>
                </c:pt>
                <c:pt idx="94">
                  <c:v>119.9</c:v>
                </c:pt>
                <c:pt idx="95">
                  <c:v>111.3</c:v>
                </c:pt>
                <c:pt idx="96">
                  <c:v>116.5</c:v>
                </c:pt>
                <c:pt idx="97">
                  <c:v>128.30000000000001</c:v>
                </c:pt>
                <c:pt idx="98">
                  <c:v>108.6</c:v>
                </c:pt>
                <c:pt idx="99">
                  <c:v>113.7</c:v>
                </c:pt>
                <c:pt idx="100">
                  <c:v>120.3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B76-48A2-B285-E61051ED40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86694608"/>
        <c:axId val="986696048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장기!$A$3</c15:sqref>
                        </c15:formulaRef>
                      </c:ext>
                    </c:extLst>
                    <c:strCache>
                      <c:ptCount val="1"/>
                      <c:pt idx="0">
                        <c:v>수도권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</a:ln>
                    <a:effectLst/>
                  </c:spPr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defRPr>
                      </a:pPr>
                      <a:endParaRPr lang="ko-KR"/>
                    </a:p>
                  </c:txPr>
                  <c:dLblPos val="t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장기!$B$1:$CX$1</c15:sqref>
                        </c15:formulaRef>
                      </c:ext>
                    </c:extLst>
                    <c:strCache>
                      <c:ptCount val="101"/>
                      <c:pt idx="0">
                        <c:v>2017-05</c:v>
                      </c:pt>
                      <c:pt idx="1">
                        <c:v>2017-06</c:v>
                      </c:pt>
                      <c:pt idx="2">
                        <c:v>2017-07</c:v>
                      </c:pt>
                      <c:pt idx="3">
                        <c:v>2017-08</c:v>
                      </c:pt>
                      <c:pt idx="4">
                        <c:v>2017-09</c:v>
                      </c:pt>
                      <c:pt idx="5">
                        <c:v>2017-10</c:v>
                      </c:pt>
                      <c:pt idx="6">
                        <c:v>2017-11</c:v>
                      </c:pt>
                      <c:pt idx="7">
                        <c:v>2017-12</c:v>
                      </c:pt>
                      <c:pt idx="8">
                        <c:v>2018-01</c:v>
                      </c:pt>
                      <c:pt idx="9">
                        <c:v>2018-02</c:v>
                      </c:pt>
                      <c:pt idx="10">
                        <c:v>2018-03</c:v>
                      </c:pt>
                      <c:pt idx="11">
                        <c:v>2018-04</c:v>
                      </c:pt>
                      <c:pt idx="12">
                        <c:v>2018-05</c:v>
                      </c:pt>
                      <c:pt idx="13">
                        <c:v>2018-06</c:v>
                      </c:pt>
                      <c:pt idx="14">
                        <c:v>2018-07</c:v>
                      </c:pt>
                      <c:pt idx="15">
                        <c:v>2018-08</c:v>
                      </c:pt>
                      <c:pt idx="16">
                        <c:v>2018-09</c:v>
                      </c:pt>
                      <c:pt idx="17">
                        <c:v>2018-10</c:v>
                      </c:pt>
                      <c:pt idx="18">
                        <c:v>2018-11</c:v>
                      </c:pt>
                      <c:pt idx="19">
                        <c:v>2018-12</c:v>
                      </c:pt>
                      <c:pt idx="20">
                        <c:v>2019-01</c:v>
                      </c:pt>
                      <c:pt idx="21">
                        <c:v>2019-02</c:v>
                      </c:pt>
                      <c:pt idx="22">
                        <c:v>2019-03</c:v>
                      </c:pt>
                      <c:pt idx="23">
                        <c:v>2019-04</c:v>
                      </c:pt>
                      <c:pt idx="24">
                        <c:v>2019-05</c:v>
                      </c:pt>
                      <c:pt idx="25">
                        <c:v>2019-06</c:v>
                      </c:pt>
                      <c:pt idx="26">
                        <c:v>2019-07</c:v>
                      </c:pt>
                      <c:pt idx="27">
                        <c:v>2019-08</c:v>
                      </c:pt>
                      <c:pt idx="28">
                        <c:v>2019-09</c:v>
                      </c:pt>
                      <c:pt idx="29">
                        <c:v>2019-10</c:v>
                      </c:pt>
                      <c:pt idx="30">
                        <c:v>2019-11</c:v>
                      </c:pt>
                      <c:pt idx="31">
                        <c:v>2019-12</c:v>
                      </c:pt>
                      <c:pt idx="32">
                        <c:v>2020-01</c:v>
                      </c:pt>
                      <c:pt idx="33">
                        <c:v>2020-02</c:v>
                      </c:pt>
                      <c:pt idx="34">
                        <c:v>2020-03</c:v>
                      </c:pt>
                      <c:pt idx="35">
                        <c:v>2020-04</c:v>
                      </c:pt>
                      <c:pt idx="36">
                        <c:v>2020-05</c:v>
                      </c:pt>
                      <c:pt idx="37">
                        <c:v>2020-06</c:v>
                      </c:pt>
                      <c:pt idx="38">
                        <c:v>2020-07</c:v>
                      </c:pt>
                      <c:pt idx="39">
                        <c:v>2020-08</c:v>
                      </c:pt>
                      <c:pt idx="40">
                        <c:v>2020-09</c:v>
                      </c:pt>
                      <c:pt idx="41">
                        <c:v>2020-10</c:v>
                      </c:pt>
                      <c:pt idx="42">
                        <c:v>2020-11</c:v>
                      </c:pt>
                      <c:pt idx="43">
                        <c:v>2020-12</c:v>
                      </c:pt>
                      <c:pt idx="44">
                        <c:v>2021-01</c:v>
                      </c:pt>
                      <c:pt idx="45">
                        <c:v>2021-02</c:v>
                      </c:pt>
                      <c:pt idx="46">
                        <c:v>2021-03</c:v>
                      </c:pt>
                      <c:pt idx="47">
                        <c:v>2021-04</c:v>
                      </c:pt>
                      <c:pt idx="48">
                        <c:v>2021-05</c:v>
                      </c:pt>
                      <c:pt idx="49">
                        <c:v>2021-06</c:v>
                      </c:pt>
                      <c:pt idx="50">
                        <c:v>2021-07</c:v>
                      </c:pt>
                      <c:pt idx="51">
                        <c:v>2021-08</c:v>
                      </c:pt>
                      <c:pt idx="52">
                        <c:v>2021-09</c:v>
                      </c:pt>
                      <c:pt idx="53">
                        <c:v>2021-10</c:v>
                      </c:pt>
                      <c:pt idx="54">
                        <c:v>2021-11</c:v>
                      </c:pt>
                      <c:pt idx="55">
                        <c:v>2021-12</c:v>
                      </c:pt>
                      <c:pt idx="56">
                        <c:v>2022-01</c:v>
                      </c:pt>
                      <c:pt idx="57">
                        <c:v>2022-02</c:v>
                      </c:pt>
                      <c:pt idx="58">
                        <c:v>2022-03</c:v>
                      </c:pt>
                      <c:pt idx="59">
                        <c:v>2022-04</c:v>
                      </c:pt>
                      <c:pt idx="60">
                        <c:v>2022-05</c:v>
                      </c:pt>
                      <c:pt idx="61">
                        <c:v>2022-06</c:v>
                      </c:pt>
                      <c:pt idx="62">
                        <c:v>2022-07</c:v>
                      </c:pt>
                      <c:pt idx="63">
                        <c:v>2022-08</c:v>
                      </c:pt>
                      <c:pt idx="64">
                        <c:v>2022-09</c:v>
                      </c:pt>
                      <c:pt idx="65">
                        <c:v>2022-10</c:v>
                      </c:pt>
                      <c:pt idx="66">
                        <c:v>2022-11</c:v>
                      </c:pt>
                      <c:pt idx="67">
                        <c:v>2022-12</c:v>
                      </c:pt>
                      <c:pt idx="68">
                        <c:v>2023-01</c:v>
                      </c:pt>
                      <c:pt idx="69">
                        <c:v>2023-02</c:v>
                      </c:pt>
                      <c:pt idx="70">
                        <c:v>2023-03</c:v>
                      </c:pt>
                      <c:pt idx="71">
                        <c:v>2023-04</c:v>
                      </c:pt>
                      <c:pt idx="72">
                        <c:v>2023-05</c:v>
                      </c:pt>
                      <c:pt idx="73">
                        <c:v>2023-06</c:v>
                      </c:pt>
                      <c:pt idx="74">
                        <c:v>2023-07</c:v>
                      </c:pt>
                      <c:pt idx="75">
                        <c:v>2023-08</c:v>
                      </c:pt>
                      <c:pt idx="76">
                        <c:v>2023-09</c:v>
                      </c:pt>
                      <c:pt idx="77">
                        <c:v>2023-10</c:v>
                      </c:pt>
                      <c:pt idx="78">
                        <c:v>2023-11</c:v>
                      </c:pt>
                      <c:pt idx="79">
                        <c:v>2023-12</c:v>
                      </c:pt>
                      <c:pt idx="80">
                        <c:v>2024-01</c:v>
                      </c:pt>
                      <c:pt idx="81">
                        <c:v>2024-02</c:v>
                      </c:pt>
                      <c:pt idx="82">
                        <c:v>2024-03</c:v>
                      </c:pt>
                      <c:pt idx="83">
                        <c:v>2024-04</c:v>
                      </c:pt>
                      <c:pt idx="84">
                        <c:v>2024-05</c:v>
                      </c:pt>
                      <c:pt idx="85">
                        <c:v>2024-06</c:v>
                      </c:pt>
                      <c:pt idx="86">
                        <c:v>2024-07</c:v>
                      </c:pt>
                      <c:pt idx="87">
                        <c:v>2024-08</c:v>
                      </c:pt>
                      <c:pt idx="88">
                        <c:v>2024-09</c:v>
                      </c:pt>
                      <c:pt idx="89">
                        <c:v>2024-10</c:v>
                      </c:pt>
                      <c:pt idx="90">
                        <c:v>2024-11</c:v>
                      </c:pt>
                      <c:pt idx="91">
                        <c:v>2024-12</c:v>
                      </c:pt>
                      <c:pt idx="92">
                        <c:v>2025-01</c:v>
                      </c:pt>
                      <c:pt idx="93">
                        <c:v>2025-02</c:v>
                      </c:pt>
                      <c:pt idx="94">
                        <c:v>2025-03</c:v>
                      </c:pt>
                      <c:pt idx="95">
                        <c:v>2025-04</c:v>
                      </c:pt>
                      <c:pt idx="96">
                        <c:v>2025-05</c:v>
                      </c:pt>
                      <c:pt idx="97">
                        <c:v>2025-06</c:v>
                      </c:pt>
                      <c:pt idx="98">
                        <c:v>2025-07</c:v>
                      </c:pt>
                      <c:pt idx="99">
                        <c:v>2025-08</c:v>
                      </c:pt>
                      <c:pt idx="100">
                        <c:v>2025-09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장기!$B$3:$CX$3</c15:sqref>
                        </c15:formulaRef>
                      </c:ext>
                    </c:extLst>
                    <c:numCache>
                      <c:formatCode>General</c:formatCode>
                      <c:ptCount val="101"/>
                      <c:pt idx="0">
                        <c:v>120.9</c:v>
                      </c:pt>
                      <c:pt idx="1">
                        <c:v>119.8</c:v>
                      </c:pt>
                      <c:pt idx="2">
                        <c:v>125.2</c:v>
                      </c:pt>
                      <c:pt idx="3">
                        <c:v>115.8</c:v>
                      </c:pt>
                      <c:pt idx="4">
                        <c:v>113.6</c:v>
                      </c:pt>
                      <c:pt idx="5">
                        <c:v>112.6</c:v>
                      </c:pt>
                      <c:pt idx="6">
                        <c:v>109.6</c:v>
                      </c:pt>
                      <c:pt idx="7">
                        <c:v>105.3</c:v>
                      </c:pt>
                      <c:pt idx="8">
                        <c:v>114.8</c:v>
                      </c:pt>
                      <c:pt idx="9">
                        <c:v>115.4</c:v>
                      </c:pt>
                      <c:pt idx="10">
                        <c:v>109.6</c:v>
                      </c:pt>
                      <c:pt idx="11">
                        <c:v>103</c:v>
                      </c:pt>
                      <c:pt idx="12">
                        <c:v>102.4</c:v>
                      </c:pt>
                      <c:pt idx="13">
                        <c:v>99.1</c:v>
                      </c:pt>
                      <c:pt idx="14">
                        <c:v>102.4</c:v>
                      </c:pt>
                      <c:pt idx="15">
                        <c:v>114.7</c:v>
                      </c:pt>
                      <c:pt idx="16">
                        <c:v>117.4</c:v>
                      </c:pt>
                      <c:pt idx="17">
                        <c:v>108.8</c:v>
                      </c:pt>
                      <c:pt idx="18">
                        <c:v>99.9</c:v>
                      </c:pt>
                      <c:pt idx="19">
                        <c:v>91.5</c:v>
                      </c:pt>
                      <c:pt idx="20">
                        <c:v>91</c:v>
                      </c:pt>
                      <c:pt idx="21">
                        <c:v>94.4</c:v>
                      </c:pt>
                      <c:pt idx="22">
                        <c:v>92</c:v>
                      </c:pt>
                      <c:pt idx="23">
                        <c:v>90.6</c:v>
                      </c:pt>
                      <c:pt idx="24">
                        <c:v>94</c:v>
                      </c:pt>
                      <c:pt idx="25">
                        <c:v>102.3</c:v>
                      </c:pt>
                      <c:pt idx="26">
                        <c:v>108.2</c:v>
                      </c:pt>
                      <c:pt idx="27">
                        <c:v>109.4</c:v>
                      </c:pt>
                      <c:pt idx="28">
                        <c:v>113.7</c:v>
                      </c:pt>
                      <c:pt idx="29">
                        <c:v>119.8</c:v>
                      </c:pt>
                      <c:pt idx="30">
                        <c:v>119.9</c:v>
                      </c:pt>
                      <c:pt idx="31">
                        <c:v>118</c:v>
                      </c:pt>
                      <c:pt idx="32">
                        <c:v>116.7</c:v>
                      </c:pt>
                      <c:pt idx="33">
                        <c:v>120.9</c:v>
                      </c:pt>
                      <c:pt idx="34">
                        <c:v>111.2</c:v>
                      </c:pt>
                      <c:pt idx="35">
                        <c:v>104.9</c:v>
                      </c:pt>
                      <c:pt idx="36">
                        <c:v>111.9</c:v>
                      </c:pt>
                      <c:pt idx="37">
                        <c:v>125.5</c:v>
                      </c:pt>
                      <c:pt idx="38">
                        <c:v>127.9</c:v>
                      </c:pt>
                      <c:pt idx="39">
                        <c:v>124.9</c:v>
                      </c:pt>
                      <c:pt idx="40">
                        <c:v>123.4</c:v>
                      </c:pt>
                      <c:pt idx="41">
                        <c:v>129.1</c:v>
                      </c:pt>
                      <c:pt idx="42">
                        <c:v>131.30000000000001</c:v>
                      </c:pt>
                      <c:pt idx="43">
                        <c:v>130.5</c:v>
                      </c:pt>
                      <c:pt idx="44">
                        <c:v>128.9</c:v>
                      </c:pt>
                      <c:pt idx="45">
                        <c:v>127.2</c:v>
                      </c:pt>
                      <c:pt idx="46">
                        <c:v>121.9</c:v>
                      </c:pt>
                      <c:pt idx="47">
                        <c:v>120.3</c:v>
                      </c:pt>
                      <c:pt idx="48">
                        <c:v>125.5</c:v>
                      </c:pt>
                      <c:pt idx="49">
                        <c:v>129.19999999999999</c:v>
                      </c:pt>
                      <c:pt idx="50">
                        <c:v>130.9</c:v>
                      </c:pt>
                      <c:pt idx="51">
                        <c:v>132.30000000000001</c:v>
                      </c:pt>
                      <c:pt idx="52">
                        <c:v>129.4</c:v>
                      </c:pt>
                      <c:pt idx="53">
                        <c:v>119.1</c:v>
                      </c:pt>
                      <c:pt idx="54">
                        <c:v>110.9</c:v>
                      </c:pt>
                      <c:pt idx="55">
                        <c:v>103.1</c:v>
                      </c:pt>
                      <c:pt idx="56">
                        <c:v>101.4</c:v>
                      </c:pt>
                      <c:pt idx="57">
                        <c:v>103.1</c:v>
                      </c:pt>
                      <c:pt idx="58">
                        <c:v>107</c:v>
                      </c:pt>
                      <c:pt idx="59">
                        <c:v>110.2</c:v>
                      </c:pt>
                      <c:pt idx="60">
                        <c:v>105</c:v>
                      </c:pt>
                      <c:pt idx="61">
                        <c:v>99.8</c:v>
                      </c:pt>
                      <c:pt idx="62">
                        <c:v>92.4</c:v>
                      </c:pt>
                      <c:pt idx="63">
                        <c:v>88</c:v>
                      </c:pt>
                      <c:pt idx="64">
                        <c:v>86.8</c:v>
                      </c:pt>
                      <c:pt idx="65">
                        <c:v>79.099999999999994</c:v>
                      </c:pt>
                      <c:pt idx="66">
                        <c:v>76.900000000000006</c:v>
                      </c:pt>
                      <c:pt idx="67">
                        <c:v>76.8</c:v>
                      </c:pt>
                      <c:pt idx="68">
                        <c:v>83.5</c:v>
                      </c:pt>
                      <c:pt idx="69">
                        <c:v>93.8</c:v>
                      </c:pt>
                      <c:pt idx="70">
                        <c:v>96.4</c:v>
                      </c:pt>
                      <c:pt idx="71">
                        <c:v>98.1</c:v>
                      </c:pt>
                      <c:pt idx="72">
                        <c:v>102.1</c:v>
                      </c:pt>
                      <c:pt idx="73">
                        <c:v>102.6</c:v>
                      </c:pt>
                      <c:pt idx="74">
                        <c:v>107.1</c:v>
                      </c:pt>
                      <c:pt idx="75">
                        <c:v>109.9</c:v>
                      </c:pt>
                      <c:pt idx="76">
                        <c:v>111.2</c:v>
                      </c:pt>
                      <c:pt idx="77">
                        <c:v>104.5</c:v>
                      </c:pt>
                      <c:pt idx="78">
                        <c:v>98</c:v>
                      </c:pt>
                      <c:pt idx="79">
                        <c:v>95.7</c:v>
                      </c:pt>
                      <c:pt idx="80">
                        <c:v>99.6</c:v>
                      </c:pt>
                      <c:pt idx="81">
                        <c:v>104.9</c:v>
                      </c:pt>
                      <c:pt idx="82">
                        <c:v>103.6</c:v>
                      </c:pt>
                      <c:pt idx="83">
                        <c:v>105</c:v>
                      </c:pt>
                      <c:pt idx="84">
                        <c:v>107.6</c:v>
                      </c:pt>
                      <c:pt idx="85">
                        <c:v>112.1</c:v>
                      </c:pt>
                      <c:pt idx="86">
                        <c:v>116.4</c:v>
                      </c:pt>
                      <c:pt idx="87">
                        <c:v>117.7</c:v>
                      </c:pt>
                      <c:pt idx="88">
                        <c:v>111.7</c:v>
                      </c:pt>
                      <c:pt idx="89">
                        <c:v>105.5</c:v>
                      </c:pt>
                      <c:pt idx="90">
                        <c:v>99.8</c:v>
                      </c:pt>
                      <c:pt idx="91">
                        <c:v>97.6</c:v>
                      </c:pt>
                      <c:pt idx="92">
                        <c:v>100.5</c:v>
                      </c:pt>
                      <c:pt idx="93">
                        <c:v>106.9</c:v>
                      </c:pt>
                      <c:pt idx="94">
                        <c:v>111.5</c:v>
                      </c:pt>
                      <c:pt idx="95">
                        <c:v>105.9</c:v>
                      </c:pt>
                      <c:pt idx="96">
                        <c:v>108.5</c:v>
                      </c:pt>
                      <c:pt idx="97">
                        <c:v>119.4</c:v>
                      </c:pt>
                      <c:pt idx="98">
                        <c:v>104.7</c:v>
                      </c:pt>
                      <c:pt idx="99">
                        <c:v>107.3</c:v>
                      </c:pt>
                      <c:pt idx="100">
                        <c:v>112.2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6-1B76-48A2-B285-E61051ED40B8}"/>
                  </c:ext>
                </c:extLst>
              </c15:ser>
            </c15:filteredLineSeries>
          </c:ext>
        </c:extLst>
      </c:lineChart>
      <c:catAx>
        <c:axId val="986694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pPr>
            <a:endParaRPr lang="ko-KR"/>
          </a:p>
        </c:txPr>
        <c:crossAx val="986696048"/>
        <c:crosses val="autoZero"/>
        <c:auto val="1"/>
        <c:lblAlgn val="ctr"/>
        <c:lblOffset val="100"/>
        <c:noMultiLvlLbl val="0"/>
      </c:catAx>
      <c:valAx>
        <c:axId val="986696048"/>
        <c:scaling>
          <c:orientation val="minMax"/>
          <c:min val="6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pPr>
            <a:endParaRPr lang="ko-KR"/>
          </a:p>
        </c:txPr>
        <c:crossAx val="9866946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나눔바른고딕" panose="020B0603020101020101" pitchFamily="50" charset="-127"/>
          <a:ea typeface="나눔바른고딕" panose="020B0603020101020101" pitchFamily="50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C57D21-B5AE-4838-8CC9-8E7FA0AD68C5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1143000"/>
            <a:ext cx="4953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1443F6-512B-45B8-ADB4-88DA12971F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171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4721C-C744-C59A-B65B-1CAA894DA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A35A02-6CA3-052D-2117-056B8EFEA8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4423E2-3D2C-79D2-BDCC-98872D545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C4D4E7-B5EC-CDD1-EF01-4AFE93298B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1443F6-512B-45B8-ADB4-88DA12971F8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665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7822A-E05A-6C4B-EA9F-ACC641E76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8339BF-F51C-912B-5B99-D86E697655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CEC7F2-382D-2CAF-7046-2506E3F50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1A92BA-D2C9-DD5F-65E4-04488023E0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1443F6-512B-45B8-ADB4-88DA12971F8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510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1443F6-512B-45B8-ADB4-88DA12971F8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824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54FB0-93CD-4A0F-EBD3-CA8B596E9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C00B80-B866-71B2-24C1-02581131B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A26D6E-2FFC-E6B1-5C09-EBE4F81681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A047A0-25B6-FBC3-7B2E-5C9B68C4C7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1443F6-512B-45B8-ADB4-88DA12971F8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611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39FCE-4ECC-B492-A31A-21C65AA0C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7C99D7-74C1-F4F9-1A50-C9708BFE9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535D8F-97A0-3C07-DC56-485FFD94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FA8084-DA55-E0B6-7550-7BC4AAD62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1443F6-512B-45B8-ADB4-88DA12971F8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635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D93A1-A1C1-97EC-D1B4-C4F0B3A00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EBF5A6-1CFA-117C-75A8-2A4E8305D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852A6C-B934-BB99-59CA-E30FB07D88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5218F3-14AC-0AB5-7797-DD2A44B94B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1443F6-512B-45B8-ADB4-88DA12971F8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3808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C7EAC-D8D5-C2D2-4B55-5CF3FDD26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DA2CF6-DE39-3D78-99FA-4CC5E1C19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2682C2-695F-591C-6D2A-3169C905D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FFADFD-D93D-363B-0363-8915A35D56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1443F6-512B-45B8-ADB4-88DA12971F8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1847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4A832-7FEA-995D-13BA-C0DB048CB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370D3E-D281-F826-1CD9-680517BB8A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9A13F0-7EC7-FAB9-C428-49540E79F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B75A35-CAC4-E241-AFAB-D93FAA06DB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1443F6-512B-45B8-ADB4-88DA12971F8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5382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B972D-4B84-38B4-529C-3ADFEC626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99E911-6609-C7C5-26A9-4067611E8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F3D6F9-D645-A95B-E1D3-C1D45AF0D8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161E16-AB0C-46DC-7591-CFBA946DC8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1443F6-512B-45B8-ADB4-88DA12971F8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16423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99C99-00EF-C467-0A47-16CBE39E2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7FB748-6375-D5B4-5328-BDFCE3131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490F1B-E4FE-75BB-7D37-8E399C6CE1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BE583D-B831-76D9-5A45-9A063BDE8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1443F6-512B-45B8-ADB4-88DA12971F8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2473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AAD62-DF65-ABDC-C154-68EA424CD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EAAFBD-0DD9-5295-5E6C-959C20597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786A68-685F-0174-81ED-1075BCAC3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D932AD-E7B2-629F-A58D-CBEC85A97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1443F6-512B-45B8-ADB4-88DA12971F8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14949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B14E9-E8F0-1EE1-9B94-A70A01F94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8436AE-5C43-DBA2-15B1-D840D0EED8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C0CC42-B061-F6CB-00D4-9D523436FA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52EE31-811E-0D5A-1498-D05E5FB209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1443F6-512B-45B8-ADB4-88DA12971F8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8473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3B4BC-A48D-3DAF-5837-CAA846C81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9A20EC-CEB6-03A8-8EF6-AD8425A4B4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5B2787-5590-F4D9-80CC-545CCE18D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3F1E74-3197-90DD-B87F-C44B989F7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1443F6-512B-45B8-ADB4-88DA12971F87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91447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B3FB8-1075-4597-8128-01E9E595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7FB766-5232-A27A-B101-9522B4B60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13AA88-5251-607A-68C3-3E0E60815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88230D-46C3-B562-E4D6-7888A77257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1443F6-512B-45B8-ADB4-88DA12971F87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326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2021" y="1013244"/>
            <a:ext cx="7452122" cy="2155472"/>
          </a:xfrm>
        </p:spPr>
        <p:txBody>
          <a:bodyPr anchor="b"/>
          <a:lstStyle>
            <a:lvl1pPr algn="ctr">
              <a:defRPr sz="489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2021" y="3251840"/>
            <a:ext cx="7452122" cy="1494785"/>
          </a:xfrm>
        </p:spPr>
        <p:txBody>
          <a:bodyPr/>
          <a:lstStyle>
            <a:lvl1pPr marL="0" indent="0" algn="ctr">
              <a:buNone/>
              <a:defRPr sz="1956"/>
            </a:lvl1pPr>
            <a:lvl2pPr marL="372618" indent="0" algn="ctr">
              <a:buNone/>
              <a:defRPr sz="1630"/>
            </a:lvl2pPr>
            <a:lvl3pPr marL="745236" indent="0" algn="ctr">
              <a:buNone/>
              <a:defRPr sz="1467"/>
            </a:lvl3pPr>
            <a:lvl4pPr marL="1117854" indent="0" algn="ctr">
              <a:buNone/>
              <a:defRPr sz="1304"/>
            </a:lvl4pPr>
            <a:lvl5pPr marL="1490472" indent="0" algn="ctr">
              <a:buNone/>
              <a:defRPr sz="1304"/>
            </a:lvl5pPr>
            <a:lvl6pPr marL="1863090" indent="0" algn="ctr">
              <a:buNone/>
              <a:defRPr sz="1304"/>
            </a:lvl6pPr>
            <a:lvl7pPr marL="2235708" indent="0" algn="ctr">
              <a:buNone/>
              <a:defRPr sz="1304"/>
            </a:lvl7pPr>
            <a:lvl8pPr marL="2608326" indent="0" algn="ctr">
              <a:buNone/>
              <a:defRPr sz="1304"/>
            </a:lvl8pPr>
            <a:lvl9pPr marL="2980944" indent="0" algn="ctr">
              <a:buNone/>
              <a:defRPr sz="1304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E8667-91B7-44C4-8459-28ECE247DEEC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34A5F-B95F-4A04-A347-B4DAC29FEA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8754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E8667-91B7-44C4-8459-28ECE247DEEC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34A5F-B95F-4A04-A347-B4DAC29FEA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697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50" userDrawn="1">
          <p15:clr>
            <a:srgbClr val="FBAE40"/>
          </p15:clr>
        </p15:guide>
        <p15:guide id="2" pos="312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936" y="1543514"/>
            <a:ext cx="8569941" cy="2575388"/>
          </a:xfrm>
        </p:spPr>
        <p:txBody>
          <a:bodyPr anchor="b"/>
          <a:lstStyle>
            <a:lvl1pPr>
              <a:defRPr sz="489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936" y="4143266"/>
            <a:ext cx="8569941" cy="1354335"/>
          </a:xfrm>
        </p:spPr>
        <p:txBody>
          <a:bodyPr/>
          <a:lstStyle>
            <a:lvl1pPr marL="0" indent="0">
              <a:buNone/>
              <a:defRPr sz="1956">
                <a:solidFill>
                  <a:schemeClr val="tx1">
                    <a:tint val="82000"/>
                  </a:schemeClr>
                </a:solidFill>
              </a:defRPr>
            </a:lvl1pPr>
            <a:lvl2pPr marL="372618" indent="0">
              <a:buNone/>
              <a:defRPr sz="1630">
                <a:solidFill>
                  <a:schemeClr val="tx1">
                    <a:tint val="82000"/>
                  </a:schemeClr>
                </a:solidFill>
              </a:defRPr>
            </a:lvl2pPr>
            <a:lvl3pPr marL="745236" indent="0">
              <a:buNone/>
              <a:defRPr sz="1467">
                <a:solidFill>
                  <a:schemeClr val="tx1">
                    <a:tint val="82000"/>
                  </a:schemeClr>
                </a:solidFill>
              </a:defRPr>
            </a:lvl3pPr>
            <a:lvl4pPr marL="1117854" indent="0">
              <a:buNone/>
              <a:defRPr sz="1304">
                <a:solidFill>
                  <a:schemeClr val="tx1">
                    <a:tint val="82000"/>
                  </a:schemeClr>
                </a:solidFill>
              </a:defRPr>
            </a:lvl4pPr>
            <a:lvl5pPr marL="1490472" indent="0">
              <a:buNone/>
              <a:defRPr sz="1304">
                <a:solidFill>
                  <a:schemeClr val="tx1">
                    <a:tint val="82000"/>
                  </a:schemeClr>
                </a:solidFill>
              </a:defRPr>
            </a:lvl5pPr>
            <a:lvl6pPr marL="1863090" indent="0">
              <a:buNone/>
              <a:defRPr sz="1304">
                <a:solidFill>
                  <a:schemeClr val="tx1">
                    <a:tint val="82000"/>
                  </a:schemeClr>
                </a:solidFill>
              </a:defRPr>
            </a:lvl6pPr>
            <a:lvl7pPr marL="2235708" indent="0">
              <a:buNone/>
              <a:defRPr sz="1304">
                <a:solidFill>
                  <a:schemeClr val="tx1">
                    <a:tint val="82000"/>
                  </a:schemeClr>
                </a:solidFill>
              </a:defRPr>
            </a:lvl7pPr>
            <a:lvl8pPr marL="2608326" indent="0">
              <a:buNone/>
              <a:defRPr sz="1304">
                <a:solidFill>
                  <a:schemeClr val="tx1">
                    <a:tint val="82000"/>
                  </a:schemeClr>
                </a:solidFill>
              </a:defRPr>
            </a:lvl8pPr>
            <a:lvl9pPr marL="2980944" indent="0">
              <a:buNone/>
              <a:defRPr sz="130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E8667-91B7-44C4-8459-28ECE247DEEC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34A5F-B95F-4A04-A347-B4DAC29FEA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978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50" userDrawn="1">
          <p15:clr>
            <a:srgbClr val="FBAE40"/>
          </p15:clr>
        </p15:guide>
        <p15:guide id="2" pos="312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3111" y="1648134"/>
            <a:ext cx="4222869" cy="392829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0183" y="1648134"/>
            <a:ext cx="4222869" cy="392829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E8667-91B7-44C4-8459-28ECE247DEEC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34A5F-B95F-4A04-A347-B4DAC29FEA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776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5" y="329627"/>
            <a:ext cx="8569941" cy="119668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406" y="1517717"/>
            <a:ext cx="4203462" cy="743809"/>
          </a:xfrm>
        </p:spPr>
        <p:txBody>
          <a:bodyPr anchor="b"/>
          <a:lstStyle>
            <a:lvl1pPr marL="0" indent="0">
              <a:buNone/>
              <a:defRPr sz="1956" b="1"/>
            </a:lvl1pPr>
            <a:lvl2pPr marL="372618" indent="0">
              <a:buNone/>
              <a:defRPr sz="1630" b="1"/>
            </a:lvl2pPr>
            <a:lvl3pPr marL="745236" indent="0">
              <a:buNone/>
              <a:defRPr sz="1467" b="1"/>
            </a:lvl3pPr>
            <a:lvl4pPr marL="1117854" indent="0">
              <a:buNone/>
              <a:defRPr sz="1304" b="1"/>
            </a:lvl4pPr>
            <a:lvl5pPr marL="1490472" indent="0">
              <a:buNone/>
              <a:defRPr sz="1304" b="1"/>
            </a:lvl5pPr>
            <a:lvl6pPr marL="1863090" indent="0">
              <a:buNone/>
              <a:defRPr sz="1304" b="1"/>
            </a:lvl6pPr>
            <a:lvl7pPr marL="2235708" indent="0">
              <a:buNone/>
              <a:defRPr sz="1304" b="1"/>
            </a:lvl7pPr>
            <a:lvl8pPr marL="2608326" indent="0">
              <a:buNone/>
              <a:defRPr sz="1304" b="1"/>
            </a:lvl8pPr>
            <a:lvl9pPr marL="2980944" indent="0">
              <a:buNone/>
              <a:defRPr sz="1304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406" y="2261526"/>
            <a:ext cx="4203462" cy="332636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0183" y="1517717"/>
            <a:ext cx="4224163" cy="743809"/>
          </a:xfrm>
        </p:spPr>
        <p:txBody>
          <a:bodyPr anchor="b"/>
          <a:lstStyle>
            <a:lvl1pPr marL="0" indent="0">
              <a:buNone/>
              <a:defRPr sz="1956" b="1"/>
            </a:lvl1pPr>
            <a:lvl2pPr marL="372618" indent="0">
              <a:buNone/>
              <a:defRPr sz="1630" b="1"/>
            </a:lvl2pPr>
            <a:lvl3pPr marL="745236" indent="0">
              <a:buNone/>
              <a:defRPr sz="1467" b="1"/>
            </a:lvl3pPr>
            <a:lvl4pPr marL="1117854" indent="0">
              <a:buNone/>
              <a:defRPr sz="1304" b="1"/>
            </a:lvl4pPr>
            <a:lvl5pPr marL="1490472" indent="0">
              <a:buNone/>
              <a:defRPr sz="1304" b="1"/>
            </a:lvl5pPr>
            <a:lvl6pPr marL="1863090" indent="0">
              <a:buNone/>
              <a:defRPr sz="1304" b="1"/>
            </a:lvl6pPr>
            <a:lvl7pPr marL="2235708" indent="0">
              <a:buNone/>
              <a:defRPr sz="1304" b="1"/>
            </a:lvl7pPr>
            <a:lvl8pPr marL="2608326" indent="0">
              <a:buNone/>
              <a:defRPr sz="1304" b="1"/>
            </a:lvl8pPr>
            <a:lvl9pPr marL="2980944" indent="0">
              <a:buNone/>
              <a:defRPr sz="1304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0183" y="2261526"/>
            <a:ext cx="4224163" cy="332636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E8667-91B7-44C4-8459-28ECE247DEEC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34A5F-B95F-4A04-A347-B4DAC29FEA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9942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E8667-91B7-44C4-8459-28ECE247DEEC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34A5F-B95F-4A04-A347-B4DAC29FEA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2359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50" userDrawn="1">
          <p15:clr>
            <a:srgbClr val="FBAE40"/>
          </p15:clr>
        </p15:guide>
        <p15:guide id="2" pos="312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E8667-91B7-44C4-8459-28ECE247DEEC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34A5F-B95F-4A04-A347-B4DAC29FEA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037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50" userDrawn="1">
          <p15:clr>
            <a:srgbClr val="FBAE40"/>
          </p15:clr>
        </p15:guide>
        <p15:guide id="2" pos="312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6" y="412750"/>
            <a:ext cx="3204671" cy="1444625"/>
          </a:xfrm>
        </p:spPr>
        <p:txBody>
          <a:bodyPr anchor="b"/>
          <a:lstStyle>
            <a:lvl1pPr>
              <a:defRPr sz="2608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4163" y="891426"/>
            <a:ext cx="5030183" cy="4399800"/>
          </a:xfrm>
        </p:spPr>
        <p:txBody>
          <a:bodyPr/>
          <a:lstStyle>
            <a:lvl1pPr>
              <a:defRPr sz="2608"/>
            </a:lvl1pPr>
            <a:lvl2pPr>
              <a:defRPr sz="2282"/>
            </a:lvl2pPr>
            <a:lvl3pPr>
              <a:defRPr sz="1956"/>
            </a:lvl3pPr>
            <a:lvl4pPr>
              <a:defRPr sz="1630"/>
            </a:lvl4pPr>
            <a:lvl5pPr>
              <a:defRPr sz="1630"/>
            </a:lvl5pPr>
            <a:lvl6pPr>
              <a:defRPr sz="1630"/>
            </a:lvl6pPr>
            <a:lvl7pPr>
              <a:defRPr sz="1630"/>
            </a:lvl7pPr>
            <a:lvl8pPr>
              <a:defRPr sz="1630"/>
            </a:lvl8pPr>
            <a:lvl9pPr>
              <a:defRPr sz="163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406" y="1857375"/>
            <a:ext cx="3204671" cy="3441017"/>
          </a:xfrm>
        </p:spPr>
        <p:txBody>
          <a:bodyPr/>
          <a:lstStyle>
            <a:lvl1pPr marL="0" indent="0">
              <a:buNone/>
              <a:defRPr sz="1304"/>
            </a:lvl1pPr>
            <a:lvl2pPr marL="372618" indent="0">
              <a:buNone/>
              <a:defRPr sz="1141"/>
            </a:lvl2pPr>
            <a:lvl3pPr marL="745236" indent="0">
              <a:buNone/>
              <a:defRPr sz="978"/>
            </a:lvl3pPr>
            <a:lvl4pPr marL="1117854" indent="0">
              <a:buNone/>
              <a:defRPr sz="815"/>
            </a:lvl4pPr>
            <a:lvl5pPr marL="1490472" indent="0">
              <a:buNone/>
              <a:defRPr sz="815"/>
            </a:lvl5pPr>
            <a:lvl6pPr marL="1863090" indent="0">
              <a:buNone/>
              <a:defRPr sz="815"/>
            </a:lvl6pPr>
            <a:lvl7pPr marL="2235708" indent="0">
              <a:buNone/>
              <a:defRPr sz="815"/>
            </a:lvl7pPr>
            <a:lvl8pPr marL="2608326" indent="0">
              <a:buNone/>
              <a:defRPr sz="815"/>
            </a:lvl8pPr>
            <a:lvl9pPr marL="2980944" indent="0">
              <a:buNone/>
              <a:defRPr sz="81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E8667-91B7-44C4-8459-28ECE247DEEC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34A5F-B95F-4A04-A347-B4DAC29FEA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7805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6" y="412750"/>
            <a:ext cx="3204671" cy="1444625"/>
          </a:xfrm>
        </p:spPr>
        <p:txBody>
          <a:bodyPr anchor="b"/>
          <a:lstStyle>
            <a:lvl1pPr>
              <a:defRPr sz="2608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24163" y="891426"/>
            <a:ext cx="5030183" cy="4399800"/>
          </a:xfrm>
        </p:spPr>
        <p:txBody>
          <a:bodyPr anchor="t"/>
          <a:lstStyle>
            <a:lvl1pPr marL="0" indent="0">
              <a:buNone/>
              <a:defRPr sz="2608"/>
            </a:lvl1pPr>
            <a:lvl2pPr marL="372618" indent="0">
              <a:buNone/>
              <a:defRPr sz="2282"/>
            </a:lvl2pPr>
            <a:lvl3pPr marL="745236" indent="0">
              <a:buNone/>
              <a:defRPr sz="1956"/>
            </a:lvl3pPr>
            <a:lvl4pPr marL="1117854" indent="0">
              <a:buNone/>
              <a:defRPr sz="1630"/>
            </a:lvl4pPr>
            <a:lvl5pPr marL="1490472" indent="0">
              <a:buNone/>
              <a:defRPr sz="1630"/>
            </a:lvl5pPr>
            <a:lvl6pPr marL="1863090" indent="0">
              <a:buNone/>
              <a:defRPr sz="1630"/>
            </a:lvl6pPr>
            <a:lvl7pPr marL="2235708" indent="0">
              <a:buNone/>
              <a:defRPr sz="1630"/>
            </a:lvl7pPr>
            <a:lvl8pPr marL="2608326" indent="0">
              <a:buNone/>
              <a:defRPr sz="1630"/>
            </a:lvl8pPr>
            <a:lvl9pPr marL="2980944" indent="0">
              <a:buNone/>
              <a:defRPr sz="163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406" y="1857375"/>
            <a:ext cx="3204671" cy="3441017"/>
          </a:xfrm>
        </p:spPr>
        <p:txBody>
          <a:bodyPr/>
          <a:lstStyle>
            <a:lvl1pPr marL="0" indent="0">
              <a:buNone/>
              <a:defRPr sz="1304"/>
            </a:lvl1pPr>
            <a:lvl2pPr marL="372618" indent="0">
              <a:buNone/>
              <a:defRPr sz="1141"/>
            </a:lvl2pPr>
            <a:lvl3pPr marL="745236" indent="0">
              <a:buNone/>
              <a:defRPr sz="978"/>
            </a:lvl3pPr>
            <a:lvl4pPr marL="1117854" indent="0">
              <a:buNone/>
              <a:defRPr sz="815"/>
            </a:lvl4pPr>
            <a:lvl5pPr marL="1490472" indent="0">
              <a:buNone/>
              <a:defRPr sz="815"/>
            </a:lvl5pPr>
            <a:lvl6pPr marL="1863090" indent="0">
              <a:buNone/>
              <a:defRPr sz="815"/>
            </a:lvl6pPr>
            <a:lvl7pPr marL="2235708" indent="0">
              <a:buNone/>
              <a:defRPr sz="815"/>
            </a:lvl7pPr>
            <a:lvl8pPr marL="2608326" indent="0">
              <a:buNone/>
              <a:defRPr sz="815"/>
            </a:lvl8pPr>
            <a:lvl9pPr marL="2980944" indent="0">
              <a:buNone/>
              <a:defRPr sz="81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E8667-91B7-44C4-8459-28ECE247DEEC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34A5F-B95F-4A04-A347-B4DAC29FEA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777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E8667-91B7-44C4-8459-28ECE247DEEC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34A5F-B95F-4A04-A347-B4DAC29FEA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26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10567" y="329627"/>
            <a:ext cx="2142485" cy="524679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3111" y="329627"/>
            <a:ext cx="6303253" cy="524679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E8667-91B7-44C4-8459-28ECE247DEEC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34A5F-B95F-4A04-A347-B4DAC29FEA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4132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3111" y="329627"/>
            <a:ext cx="8569941" cy="1196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3111" y="1648134"/>
            <a:ext cx="8569941" cy="3928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111" y="5738372"/>
            <a:ext cx="2235637" cy="3296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1E8667-91B7-44C4-8459-28ECE247DEEC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1354" y="5738372"/>
            <a:ext cx="3353455" cy="3296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7415" y="5738372"/>
            <a:ext cx="2235637" cy="3296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C34A5F-B95F-4A04-A347-B4DAC29FEA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566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45236" rtl="0" eaLnBrk="1" latinLnBrk="1" hangingPunct="1">
        <a:lnSpc>
          <a:spcPct val="90000"/>
        </a:lnSpc>
        <a:spcBef>
          <a:spcPct val="0"/>
        </a:spcBef>
        <a:buNone/>
        <a:defRPr lang="ko-KR" altLang="en-US" sz="3000" kern="1200" smtClean="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Microsoft GothicNeo" panose="020B0503020000020004" pitchFamily="34" charset="-127"/>
        </a:defRPr>
      </a:lvl1pPr>
    </p:titleStyle>
    <p:bodyStyle>
      <a:lvl1pPr marL="186309" indent="-186309" algn="l" defTabSz="745236" rtl="0" eaLnBrk="1" latinLnBrk="1" hangingPunct="1">
        <a:lnSpc>
          <a:spcPct val="90000"/>
        </a:lnSpc>
        <a:spcBef>
          <a:spcPts val="815"/>
        </a:spcBef>
        <a:buFont typeface="Arial" panose="020B0604020202020204" pitchFamily="34" charset="0"/>
        <a:buChar char="•"/>
        <a:defRPr sz="2282" kern="1200">
          <a:solidFill>
            <a:schemeClr val="tx1"/>
          </a:solidFill>
          <a:latin typeface="+mn-lt"/>
          <a:ea typeface="+mn-ea"/>
          <a:cs typeface="+mn-cs"/>
        </a:defRPr>
      </a:lvl1pPr>
      <a:lvl2pPr marL="558927" indent="-186309" algn="l" defTabSz="745236" rtl="0" eaLnBrk="1" latinLnBrk="1" hangingPunct="1">
        <a:lnSpc>
          <a:spcPct val="90000"/>
        </a:lnSpc>
        <a:spcBef>
          <a:spcPts val="408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2pPr>
      <a:lvl3pPr marL="931545" indent="-186309" algn="l" defTabSz="745236" rtl="0" eaLnBrk="1" latinLnBrk="1" hangingPunct="1">
        <a:lnSpc>
          <a:spcPct val="90000"/>
        </a:lnSpc>
        <a:spcBef>
          <a:spcPts val="408"/>
        </a:spcBef>
        <a:buFont typeface="Arial" panose="020B0604020202020204" pitchFamily="34" charset="0"/>
        <a:buChar char="•"/>
        <a:defRPr sz="1630" kern="1200">
          <a:solidFill>
            <a:schemeClr val="tx1"/>
          </a:solidFill>
          <a:latin typeface="+mn-lt"/>
          <a:ea typeface="+mn-ea"/>
          <a:cs typeface="+mn-cs"/>
        </a:defRPr>
      </a:lvl3pPr>
      <a:lvl4pPr marL="1304163" indent="-186309" algn="l" defTabSz="745236" rtl="0" eaLnBrk="1" latinLnBrk="1" hangingPunct="1">
        <a:lnSpc>
          <a:spcPct val="90000"/>
        </a:lnSpc>
        <a:spcBef>
          <a:spcPts val="408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4pPr>
      <a:lvl5pPr marL="1676781" indent="-186309" algn="l" defTabSz="745236" rtl="0" eaLnBrk="1" latinLnBrk="1" hangingPunct="1">
        <a:lnSpc>
          <a:spcPct val="90000"/>
        </a:lnSpc>
        <a:spcBef>
          <a:spcPts val="408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5pPr>
      <a:lvl6pPr marL="2049399" indent="-186309" algn="l" defTabSz="745236" rtl="0" eaLnBrk="1" latinLnBrk="1" hangingPunct="1">
        <a:lnSpc>
          <a:spcPct val="90000"/>
        </a:lnSpc>
        <a:spcBef>
          <a:spcPts val="408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6pPr>
      <a:lvl7pPr marL="2422017" indent="-186309" algn="l" defTabSz="745236" rtl="0" eaLnBrk="1" latinLnBrk="1" hangingPunct="1">
        <a:lnSpc>
          <a:spcPct val="90000"/>
        </a:lnSpc>
        <a:spcBef>
          <a:spcPts val="408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7pPr>
      <a:lvl8pPr marL="2794635" indent="-186309" algn="l" defTabSz="745236" rtl="0" eaLnBrk="1" latinLnBrk="1" hangingPunct="1">
        <a:lnSpc>
          <a:spcPct val="90000"/>
        </a:lnSpc>
        <a:spcBef>
          <a:spcPts val="408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8pPr>
      <a:lvl9pPr marL="3167253" indent="-186309" algn="l" defTabSz="745236" rtl="0" eaLnBrk="1" latinLnBrk="1" hangingPunct="1">
        <a:lnSpc>
          <a:spcPct val="90000"/>
        </a:lnSpc>
        <a:spcBef>
          <a:spcPts val="408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5236" rtl="0" eaLnBrk="1" latinLnBrk="1" hangingPunct="1">
        <a:defRPr sz="1467" kern="1200">
          <a:solidFill>
            <a:schemeClr val="tx1"/>
          </a:solidFill>
          <a:latin typeface="+mn-lt"/>
          <a:ea typeface="+mn-ea"/>
          <a:cs typeface="+mn-cs"/>
        </a:defRPr>
      </a:lvl1pPr>
      <a:lvl2pPr marL="372618" algn="l" defTabSz="745236" rtl="0" eaLnBrk="1" latinLnBrk="1" hangingPunct="1">
        <a:defRPr sz="1467" kern="1200">
          <a:solidFill>
            <a:schemeClr val="tx1"/>
          </a:solidFill>
          <a:latin typeface="+mn-lt"/>
          <a:ea typeface="+mn-ea"/>
          <a:cs typeface="+mn-cs"/>
        </a:defRPr>
      </a:lvl2pPr>
      <a:lvl3pPr marL="745236" algn="l" defTabSz="745236" rtl="0" eaLnBrk="1" latinLnBrk="1" hangingPunct="1">
        <a:defRPr sz="1467" kern="1200">
          <a:solidFill>
            <a:schemeClr val="tx1"/>
          </a:solidFill>
          <a:latin typeface="+mn-lt"/>
          <a:ea typeface="+mn-ea"/>
          <a:cs typeface="+mn-cs"/>
        </a:defRPr>
      </a:lvl3pPr>
      <a:lvl4pPr marL="1117854" algn="l" defTabSz="745236" rtl="0" eaLnBrk="1" latinLnBrk="1" hangingPunct="1">
        <a:defRPr sz="1467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algn="l" defTabSz="745236" rtl="0" eaLnBrk="1" latinLnBrk="1" hangingPunct="1">
        <a:defRPr sz="1467" kern="1200">
          <a:solidFill>
            <a:schemeClr val="tx1"/>
          </a:solidFill>
          <a:latin typeface="+mn-lt"/>
          <a:ea typeface="+mn-ea"/>
          <a:cs typeface="+mn-cs"/>
        </a:defRPr>
      </a:lvl5pPr>
      <a:lvl6pPr marL="1863090" algn="l" defTabSz="745236" rtl="0" eaLnBrk="1" latinLnBrk="1" hangingPunct="1">
        <a:defRPr sz="1467" kern="1200">
          <a:solidFill>
            <a:schemeClr val="tx1"/>
          </a:solidFill>
          <a:latin typeface="+mn-lt"/>
          <a:ea typeface="+mn-ea"/>
          <a:cs typeface="+mn-cs"/>
        </a:defRPr>
      </a:lvl6pPr>
      <a:lvl7pPr marL="2235708" algn="l" defTabSz="745236" rtl="0" eaLnBrk="1" latinLnBrk="1" hangingPunct="1">
        <a:defRPr sz="1467" kern="1200">
          <a:solidFill>
            <a:schemeClr val="tx1"/>
          </a:solidFill>
          <a:latin typeface="+mn-lt"/>
          <a:ea typeface="+mn-ea"/>
          <a:cs typeface="+mn-cs"/>
        </a:defRPr>
      </a:lvl7pPr>
      <a:lvl8pPr marL="2608326" algn="l" defTabSz="745236" rtl="0" eaLnBrk="1" latinLnBrk="1" hangingPunct="1">
        <a:defRPr sz="1467" kern="1200">
          <a:solidFill>
            <a:schemeClr val="tx1"/>
          </a:solidFill>
          <a:latin typeface="+mn-lt"/>
          <a:ea typeface="+mn-ea"/>
          <a:cs typeface="+mn-cs"/>
        </a:defRPr>
      </a:lvl8pPr>
      <a:lvl9pPr marL="2980944" algn="l" defTabSz="745236" rtl="0" eaLnBrk="1" latinLnBrk="1" hangingPunct="1">
        <a:defRPr sz="14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50" userDrawn="1">
          <p15:clr>
            <a:srgbClr val="F26B43"/>
          </p15:clr>
        </p15:guide>
        <p15:guide id="2" pos="31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4A6D4-5711-2A56-631E-450C121B6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16FE60-7D53-FC1B-5EC2-6BB3752556F3}"/>
              </a:ext>
            </a:extLst>
          </p:cNvPr>
          <p:cNvSpPr txBox="1"/>
          <p:nvPr/>
        </p:nvSpPr>
        <p:spPr>
          <a:xfrm>
            <a:off x="1028700" y="688975"/>
            <a:ext cx="62001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11</a:t>
            </a:r>
            <a:r>
              <a:rPr lang="ko-KR" altLang="en-US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월 </a:t>
            </a:r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2</a:t>
            </a:r>
            <a:r>
              <a:rPr lang="ko-KR" altLang="en-US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주 직무 수행 평가 </a:t>
            </a:r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(</a:t>
            </a:r>
            <a:r>
              <a:rPr lang="ko-KR" altLang="en-US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갤럽</a:t>
            </a:r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)</a:t>
            </a:r>
            <a:endParaRPr lang="ko-KR" altLang="en-US" sz="3000" dirty="0">
              <a:latin typeface="나눔고딕 ExtraBold" panose="020D0904000000000000" pitchFamily="50" charset="-127"/>
              <a:ea typeface="나눔고딕 ExtraBold" panose="020D0904000000000000" pitchFamily="50" charset="-127"/>
              <a:cs typeface="Microsoft GothicNeo" panose="020B05030200000200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6FC7E2-3619-E03B-952D-C866A9F87409}"/>
              </a:ext>
            </a:extLst>
          </p:cNvPr>
          <p:cNvSpPr txBox="1"/>
          <p:nvPr/>
        </p:nvSpPr>
        <p:spPr>
          <a:xfrm>
            <a:off x="1020233" y="5372540"/>
            <a:ext cx="8525933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92873" indent="-92873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조사의뢰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: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한국갤럽 자체조사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/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조사기관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: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한국갤럽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 /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조사기간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: 25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년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11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월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11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일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~13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일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/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조사방법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: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무선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100%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전화면접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(CATI) </a:t>
            </a:r>
          </a:p>
          <a:p>
            <a:pPr marL="92873" indent="-92873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한국갤럽 데일리 오피니언 제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641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호 인용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.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그 밖의 사항은 </a:t>
            </a:r>
            <a:r>
              <a:rPr lang="ko-KR" altLang="en-US" sz="12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중앙선거여론조사심의위원회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 홈페이지 참조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330354C-B1C9-C85D-7FFB-90854B5F2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804" y="1311929"/>
            <a:ext cx="6274113" cy="3908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7447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C1A0D-B832-CE7C-9DD8-C9762E1B9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2B8D73-AC10-A341-16C5-3D2936C7FF23}"/>
              </a:ext>
            </a:extLst>
          </p:cNvPr>
          <p:cNvSpPr txBox="1"/>
          <p:nvPr/>
        </p:nvSpPr>
        <p:spPr>
          <a:xfrm>
            <a:off x="1028700" y="688975"/>
            <a:ext cx="62001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11</a:t>
            </a:r>
            <a:r>
              <a:rPr lang="ko-KR" altLang="en-US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월 </a:t>
            </a:r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1</a:t>
            </a:r>
            <a:r>
              <a:rPr lang="ko-KR" altLang="en-US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주 직무 수행 평가 </a:t>
            </a:r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(</a:t>
            </a:r>
            <a:r>
              <a:rPr lang="ko-KR" altLang="en-US" sz="30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리얼미터</a:t>
            </a:r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)</a:t>
            </a:r>
            <a:endParaRPr lang="ko-KR" altLang="en-US" sz="3000" dirty="0">
              <a:latin typeface="나눔고딕 ExtraBold" panose="020D0904000000000000" pitchFamily="50" charset="-127"/>
              <a:ea typeface="나눔고딕 ExtraBold" panose="020D0904000000000000" pitchFamily="50" charset="-127"/>
              <a:cs typeface="Microsoft GothicNeo" panose="020B0503020000020004" pitchFamily="34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93C70AE-B8C0-3F44-9D72-93657F96F4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5" t="23826" r="35832" b="20310"/>
          <a:stretch>
            <a:fillRect/>
          </a:stretch>
        </p:blipFill>
        <p:spPr bwMode="auto">
          <a:xfrm>
            <a:off x="1249982" y="1335544"/>
            <a:ext cx="7436197" cy="4028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3E3FA4-D249-EC03-A56C-7EC0D278F872}"/>
              </a:ext>
            </a:extLst>
          </p:cNvPr>
          <p:cNvSpPr txBox="1"/>
          <p:nvPr/>
        </p:nvSpPr>
        <p:spPr>
          <a:xfrm>
            <a:off x="1011789" y="5364163"/>
            <a:ext cx="7572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873" indent="-92873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조사의뢰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: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에너지경제신문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/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조사기관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: </a:t>
            </a:r>
            <a:r>
              <a:rPr lang="ko-KR" altLang="en-US" sz="12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리얼미터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/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조사기간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: 25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년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11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월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6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일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~7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일 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/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조사방법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: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무선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100% ARS</a:t>
            </a:r>
          </a:p>
          <a:p>
            <a:pPr marL="92873" indent="-92873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그 밖의 사항은 </a:t>
            </a:r>
            <a:r>
              <a:rPr lang="ko-KR" altLang="en-US" sz="12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중앙선거여론조사심의위원회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 홈페이지 참조</a:t>
            </a:r>
          </a:p>
        </p:txBody>
      </p:sp>
    </p:spTree>
    <p:extLst>
      <p:ext uri="{BB962C8B-B14F-4D97-AF65-F5344CB8AC3E}">
        <p14:creationId xmlns:p14="http://schemas.microsoft.com/office/powerpoint/2010/main" val="750256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E2FE4-102E-B421-7E36-0223FBA01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1F65CF-F7CF-5EA2-B2D5-BB2D07515CF8}"/>
              </a:ext>
            </a:extLst>
          </p:cNvPr>
          <p:cNvSpPr txBox="1"/>
          <p:nvPr/>
        </p:nvSpPr>
        <p:spPr>
          <a:xfrm>
            <a:off x="1028700" y="688975"/>
            <a:ext cx="62001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11</a:t>
            </a:r>
            <a:r>
              <a:rPr lang="ko-KR" altLang="en-US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월 </a:t>
            </a:r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2</a:t>
            </a:r>
            <a:r>
              <a:rPr lang="ko-KR" altLang="en-US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주 정당지지도 </a:t>
            </a:r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(</a:t>
            </a:r>
            <a:r>
              <a:rPr lang="ko-KR" altLang="en-US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갤럽</a:t>
            </a:r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)</a:t>
            </a:r>
            <a:endParaRPr lang="ko-KR" altLang="en-US" sz="3000" dirty="0">
              <a:latin typeface="나눔고딕 ExtraBold" panose="020D0904000000000000" pitchFamily="50" charset="-127"/>
              <a:ea typeface="나눔고딕 ExtraBold" panose="020D0904000000000000" pitchFamily="50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686854-5733-8C36-EB9A-14E66034D77E}"/>
              </a:ext>
            </a:extLst>
          </p:cNvPr>
          <p:cNvSpPr txBox="1"/>
          <p:nvPr/>
        </p:nvSpPr>
        <p:spPr>
          <a:xfrm>
            <a:off x="1020233" y="5372540"/>
            <a:ext cx="8525933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92873" indent="-92873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조사의뢰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: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한국갤럽 자체조사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/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조사기관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: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한국갤럽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 /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조사기간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: 25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년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11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월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11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일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~13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일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/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조사방법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: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무선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100%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전화면접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(CATI) </a:t>
            </a:r>
          </a:p>
          <a:p>
            <a:pPr marL="92873" indent="-92873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한국갤럽 데일리 오피니언 제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641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호 인용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.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그 밖의 사항은 </a:t>
            </a:r>
            <a:r>
              <a:rPr lang="ko-KR" altLang="en-US" sz="12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중앙선거여론조사심의위원회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 홈페이지 참조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0309565-8DB0-F109-A5D1-1EC7738BBC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317"/>
          <a:stretch>
            <a:fillRect/>
          </a:stretch>
        </p:blipFill>
        <p:spPr bwMode="auto">
          <a:xfrm>
            <a:off x="1552998" y="1450917"/>
            <a:ext cx="6850000" cy="3811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2011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95E6F-1BED-C570-D7D1-B6B273C91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A19E82-CC45-F4D2-4D59-48C15EE0D693}"/>
              </a:ext>
            </a:extLst>
          </p:cNvPr>
          <p:cNvSpPr txBox="1"/>
          <p:nvPr/>
        </p:nvSpPr>
        <p:spPr>
          <a:xfrm>
            <a:off x="1028700" y="688975"/>
            <a:ext cx="62001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11</a:t>
            </a:r>
            <a:r>
              <a:rPr lang="ko-KR" altLang="en-US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월 </a:t>
            </a:r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1</a:t>
            </a:r>
            <a:r>
              <a:rPr lang="ko-KR" altLang="en-US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주 정당지지도 </a:t>
            </a:r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(</a:t>
            </a:r>
            <a:r>
              <a:rPr lang="ko-KR" altLang="en-US" sz="30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리얼미터</a:t>
            </a:r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)</a:t>
            </a:r>
            <a:endParaRPr lang="ko-KR" altLang="en-US" sz="3000" dirty="0">
              <a:latin typeface="나눔고딕 ExtraBold" panose="020D0904000000000000" pitchFamily="50" charset="-127"/>
              <a:ea typeface="나눔고딕 ExtraBold" panose="020D0904000000000000" pitchFamily="50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FBF212-704B-3460-1192-C4E35B8199FD}"/>
              </a:ext>
            </a:extLst>
          </p:cNvPr>
          <p:cNvSpPr txBox="1"/>
          <p:nvPr/>
        </p:nvSpPr>
        <p:spPr>
          <a:xfrm>
            <a:off x="1011789" y="5364163"/>
            <a:ext cx="7572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873" indent="-92873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조사의뢰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: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에너지경제신문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/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조사기관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: </a:t>
            </a:r>
            <a:r>
              <a:rPr lang="ko-KR" altLang="en-US" sz="12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리얼미터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/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조사기간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: 25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년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11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월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6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일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~7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일 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/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조사방법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: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무선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100% ARS</a:t>
            </a:r>
          </a:p>
          <a:p>
            <a:pPr marL="92873" indent="-92873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그 밖의 사항은 </a:t>
            </a:r>
            <a:r>
              <a:rPr lang="ko-KR" altLang="en-US" sz="12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중앙선거여론조사심의위원회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 홈페이지 참조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BF1FEB7-A6A9-70E2-E8ED-A4AFC63A1B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77" b="17450"/>
          <a:stretch>
            <a:fillRect/>
          </a:stretch>
        </p:blipFill>
        <p:spPr bwMode="auto">
          <a:xfrm>
            <a:off x="0" y="1512916"/>
            <a:ext cx="9936163" cy="3466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5835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9038A-7565-1ACE-D019-1DEABEAB2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E257D2-D81B-59C5-E0C0-E726C67D6409}"/>
              </a:ext>
            </a:extLst>
          </p:cNvPr>
          <p:cNvSpPr txBox="1"/>
          <p:nvPr/>
        </p:nvSpPr>
        <p:spPr>
          <a:xfrm>
            <a:off x="1028700" y="688975"/>
            <a:ext cx="62001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11</a:t>
            </a:r>
            <a:r>
              <a:rPr lang="ko-KR" altLang="en-US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월 </a:t>
            </a:r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1</a:t>
            </a:r>
            <a:r>
              <a:rPr lang="ko-KR" altLang="en-US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주 정당지지도 </a:t>
            </a:r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(</a:t>
            </a:r>
            <a:r>
              <a:rPr lang="ko-KR" altLang="en-US" sz="30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리얼미터</a:t>
            </a:r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)</a:t>
            </a:r>
            <a:endParaRPr lang="ko-KR" altLang="en-US" sz="3000" dirty="0">
              <a:latin typeface="나눔고딕 ExtraBold" panose="020D0904000000000000" pitchFamily="50" charset="-127"/>
              <a:ea typeface="나눔고딕 ExtraBold" panose="020D0904000000000000" pitchFamily="50" charset="-127"/>
              <a:cs typeface="Microsoft GothicNeo" panose="020B0503020000020004" pitchFamily="34" charset="-127"/>
            </a:endParaRP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3C7C4AC3-BD28-1A0B-669B-C1E12C0346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31" b="9800"/>
          <a:stretch>
            <a:fillRect/>
          </a:stretch>
        </p:blipFill>
        <p:spPr bwMode="auto">
          <a:xfrm>
            <a:off x="1706307" y="1417745"/>
            <a:ext cx="6521962" cy="377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DF4215F-68DF-029D-1FC5-118178D17671}"/>
              </a:ext>
            </a:extLst>
          </p:cNvPr>
          <p:cNvSpPr txBox="1"/>
          <p:nvPr/>
        </p:nvSpPr>
        <p:spPr>
          <a:xfrm>
            <a:off x="1011789" y="5364163"/>
            <a:ext cx="7572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873" indent="-92873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조사의뢰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: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에너지경제신문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/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조사기관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: </a:t>
            </a:r>
            <a:r>
              <a:rPr lang="ko-KR" altLang="en-US" sz="12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리얼미터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/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조사기간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: 25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년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11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월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6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일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~7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일 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/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조사방법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: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무선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100% ARS</a:t>
            </a:r>
          </a:p>
          <a:p>
            <a:pPr marL="92873" indent="-92873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그 밖의 사항은 </a:t>
            </a:r>
            <a:r>
              <a:rPr lang="ko-KR" altLang="en-US" sz="12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중앙선거여론조사심의위원회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 홈페이지 참조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0034246-E23B-5BBC-A9D5-622F759642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26" b="13359"/>
          <a:stretch>
            <a:fillRect/>
          </a:stretch>
        </p:blipFill>
        <p:spPr bwMode="auto">
          <a:xfrm>
            <a:off x="1062038" y="1172096"/>
            <a:ext cx="7812087" cy="4241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7664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846A8-A6A0-68C4-9AFF-A87E7571F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00194626-CD18-777E-CF73-A674884627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58"/>
          <a:stretch>
            <a:fillRect/>
          </a:stretch>
        </p:blipFill>
        <p:spPr bwMode="auto">
          <a:xfrm>
            <a:off x="632027" y="1064028"/>
            <a:ext cx="8821737" cy="4187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D575DF-AEC2-A743-B77F-8827EB659F8C}"/>
              </a:ext>
            </a:extLst>
          </p:cNvPr>
          <p:cNvSpPr txBox="1"/>
          <p:nvPr/>
        </p:nvSpPr>
        <p:spPr>
          <a:xfrm>
            <a:off x="1028700" y="688975"/>
            <a:ext cx="62001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11</a:t>
            </a:r>
            <a:r>
              <a:rPr lang="ko-KR" altLang="en-US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월 </a:t>
            </a:r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1</a:t>
            </a:r>
            <a:r>
              <a:rPr lang="ko-KR" altLang="en-US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주 정당지지도 </a:t>
            </a:r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(</a:t>
            </a:r>
            <a:r>
              <a:rPr lang="ko-KR" altLang="en-US" sz="30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리얼미터</a:t>
            </a:r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)</a:t>
            </a:r>
            <a:endParaRPr lang="ko-KR" altLang="en-US" sz="3000" dirty="0">
              <a:latin typeface="나눔고딕 ExtraBold" panose="020D0904000000000000" pitchFamily="50" charset="-127"/>
              <a:ea typeface="나눔고딕 ExtraBold" panose="020D0904000000000000" pitchFamily="50" charset="-127"/>
              <a:cs typeface="Microsoft GothicNeo" panose="020B05030200000200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270E44-A5CC-1BAD-4414-98A827C0CB82}"/>
              </a:ext>
            </a:extLst>
          </p:cNvPr>
          <p:cNvSpPr txBox="1"/>
          <p:nvPr/>
        </p:nvSpPr>
        <p:spPr>
          <a:xfrm>
            <a:off x="1011789" y="5364163"/>
            <a:ext cx="7572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873" indent="-92873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조사의뢰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: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에너지경제신문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/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조사기관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: </a:t>
            </a:r>
            <a:r>
              <a:rPr lang="ko-KR" altLang="en-US" sz="12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리얼미터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/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조사기간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: 25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년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11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월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6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일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~7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일 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/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조사방법 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: 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무선</a:t>
            </a:r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100% ARS</a:t>
            </a:r>
          </a:p>
          <a:p>
            <a:pPr marL="92873" indent="-92873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그 밖의 사항은 </a:t>
            </a:r>
            <a:r>
              <a:rPr lang="ko-KR" altLang="en-US" sz="12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중앙선거여론조사심의위원회</a:t>
            </a:r>
            <a:r>
              <a:rPr lang="ko-KR" altLang="en-US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Microsoft GothicNeo Light" panose="020B0503020000020004" pitchFamily="34" charset="-127"/>
              </a:rPr>
              <a:t> 홈페이지 참조</a:t>
            </a:r>
          </a:p>
        </p:txBody>
      </p:sp>
    </p:spTree>
    <p:extLst>
      <p:ext uri="{BB962C8B-B14F-4D97-AF65-F5344CB8AC3E}">
        <p14:creationId xmlns:p14="http://schemas.microsoft.com/office/powerpoint/2010/main" val="2403430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92FBB-D927-E2B5-F638-DE4EB906C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6A01D3D-E1DB-778E-AF62-12465C35B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36486"/>
              </p:ext>
            </p:extLst>
          </p:nvPr>
        </p:nvGraphicFramePr>
        <p:xfrm>
          <a:off x="210539" y="866168"/>
          <a:ext cx="9513497" cy="5159810"/>
        </p:xfrm>
        <a:graphic>
          <a:graphicData uri="http://schemas.openxmlformats.org/drawingml/2006/table">
            <a:tbl>
              <a:tblPr/>
              <a:tblGrid>
                <a:gridCol w="1146887">
                  <a:extLst>
                    <a:ext uri="{9D8B030D-6E8A-4147-A177-3AD203B41FA5}">
                      <a16:colId xmlns:a16="http://schemas.microsoft.com/office/drawing/2014/main" val="1659963494"/>
                    </a:ext>
                  </a:extLst>
                </a:gridCol>
                <a:gridCol w="1146887">
                  <a:extLst>
                    <a:ext uri="{9D8B030D-6E8A-4147-A177-3AD203B41FA5}">
                      <a16:colId xmlns:a16="http://schemas.microsoft.com/office/drawing/2014/main" val="3343249219"/>
                    </a:ext>
                  </a:extLst>
                </a:gridCol>
                <a:gridCol w="952195">
                  <a:extLst>
                    <a:ext uri="{9D8B030D-6E8A-4147-A177-3AD203B41FA5}">
                      <a16:colId xmlns:a16="http://schemas.microsoft.com/office/drawing/2014/main" val="1603907149"/>
                    </a:ext>
                  </a:extLst>
                </a:gridCol>
                <a:gridCol w="4363914">
                  <a:extLst>
                    <a:ext uri="{9D8B030D-6E8A-4147-A177-3AD203B41FA5}">
                      <a16:colId xmlns:a16="http://schemas.microsoft.com/office/drawing/2014/main" val="3824962275"/>
                    </a:ext>
                  </a:extLst>
                </a:gridCol>
                <a:gridCol w="951807">
                  <a:extLst>
                    <a:ext uri="{9D8B030D-6E8A-4147-A177-3AD203B41FA5}">
                      <a16:colId xmlns:a16="http://schemas.microsoft.com/office/drawing/2014/main" val="996231064"/>
                    </a:ext>
                  </a:extLst>
                </a:gridCol>
                <a:gridCol w="951807">
                  <a:extLst>
                    <a:ext uri="{9D8B030D-6E8A-4147-A177-3AD203B41FA5}">
                      <a16:colId xmlns:a16="http://schemas.microsoft.com/office/drawing/2014/main" val="2172065913"/>
                    </a:ext>
                  </a:extLst>
                </a:gridCol>
              </a:tblGrid>
              <a:tr h="462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조사 기관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조사 날짜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조사방법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조사 문항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문구 전체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긍정</a:t>
                      </a:r>
                      <a:endParaRPr lang="en-US" altLang="ko-KR" sz="1400" kern="0" spc="0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효과있음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부정</a:t>
                      </a:r>
                      <a:endParaRPr lang="en-US" altLang="ko-KR" sz="1400" kern="0" spc="0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효과없음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552181"/>
                  </a:ext>
                </a:extLst>
              </a:tr>
              <a:tr h="10966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주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조원씨앤아이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2025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10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18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~20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</a:t>
                      </a:r>
                      <a:endParaRPr lang="en-US" altLang="ko-KR" sz="1400" kern="0" spc="0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무선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RDD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－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ARS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(2019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명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"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지난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 정부는 수도권에 투기과열지구 구역을 확대 지정하고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15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억 초과 아파트의 대출한도를 최대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2~4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억원으로 축소하는 부동산 대책을 발표 했는데요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귀하께서는 정부의 이번 대책이 집값 안정화에 얼마나 효과가 있을 것으로 생각하십니까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?"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44.2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50.6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119601"/>
                  </a:ext>
                </a:extLst>
              </a:tr>
              <a:tr h="8790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한국갤럽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2025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10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21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~23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가상번호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전화면접</a:t>
                      </a:r>
                      <a:endParaRPr lang="en-US" altLang="ko-KR" sz="1400" kern="0" spc="0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(1000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명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“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지난주 정부가 부동산 규제 지역 확대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주택담보대출 한도 제한 강화 등 주택시장 안정화 대책을 발표했습니다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귀하는 이번 부동산 대책에 대해 어떻게 생각하십니까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?”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0169596"/>
                  </a:ext>
                </a:extLst>
              </a:tr>
              <a:tr h="8790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리얼미터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523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2025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10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23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~24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무선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RDD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－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ARS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(1001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명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10.15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부동산 대책 단기적 효과</a:t>
                      </a:r>
                      <a:endParaRPr lang="en-US" altLang="ko-KR" sz="1400" kern="0" spc="0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49.8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43.2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885123"/>
                  </a:ext>
                </a:extLst>
              </a:tr>
              <a:tr h="7460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한국사회여론연구소 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(KSOI)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2025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10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27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~28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가상번호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-</a:t>
                      </a: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ARS(1002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명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"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정부는 지난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10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차 부동산대책을 발표했습니다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귀하께서는 </a:t>
                      </a:r>
                      <a:r>
                        <a:rPr lang="ko-KR" alt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이재명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 정부가 발표한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10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 부동산대책에 대해 어떻게 평가하십니까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?"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39.0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49.3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025008"/>
                  </a:ext>
                </a:extLst>
              </a:tr>
              <a:tr h="10966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전국지표조사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NBS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2025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10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27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~29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</a:t>
                      </a:r>
                      <a:endParaRPr lang="en-US" altLang="ko-KR" sz="1400" kern="0" spc="0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가상번호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전화면접</a:t>
                      </a:r>
                      <a:endParaRPr lang="en-US" altLang="ko-KR" sz="1400" kern="0" spc="0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(1001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명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"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최근 정부는 서울 전 지역 및 경기도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12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개 지역을 투기과열지구 및 토지거래허가구역으로 지정하고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주택담보대출 조건을 강화하는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10.15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부동산 대책을 발표했습니다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이번 부동산 대책에 대해서 어떻게 생각하십니까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?"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09813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3B9EBB7-A352-E503-2CC1-B1AB2BF61C88}"/>
              </a:ext>
            </a:extLst>
          </p:cNvPr>
          <p:cNvSpPr txBox="1"/>
          <p:nvPr/>
        </p:nvSpPr>
        <p:spPr>
          <a:xfrm>
            <a:off x="1028700" y="165272"/>
            <a:ext cx="62001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10.15 </a:t>
            </a:r>
            <a:r>
              <a:rPr lang="ko-KR" altLang="en-US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부동산 정책 평가</a:t>
            </a:r>
          </a:p>
        </p:txBody>
      </p:sp>
    </p:spTree>
    <p:extLst>
      <p:ext uri="{BB962C8B-B14F-4D97-AF65-F5344CB8AC3E}">
        <p14:creationId xmlns:p14="http://schemas.microsoft.com/office/powerpoint/2010/main" val="3270388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12FF4-003F-807D-28DA-56694079A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5062AB35-DB6D-70E9-BB5E-6791005D12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6111235"/>
              </p:ext>
            </p:extLst>
          </p:nvPr>
        </p:nvGraphicFramePr>
        <p:xfrm>
          <a:off x="843668" y="1177925"/>
          <a:ext cx="8757531" cy="4657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BF76210-C76C-897B-A44B-87FB75FE833B}"/>
              </a:ext>
            </a:extLst>
          </p:cNvPr>
          <p:cNvSpPr txBox="1"/>
          <p:nvPr/>
        </p:nvSpPr>
        <p:spPr>
          <a:xfrm>
            <a:off x="1008063" y="514408"/>
            <a:ext cx="62001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10.15 </a:t>
            </a:r>
            <a:r>
              <a:rPr lang="ko-KR" altLang="en-US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부동산 대책 평가</a:t>
            </a:r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(</a:t>
            </a:r>
            <a:r>
              <a:rPr lang="ko-KR" altLang="en-US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집단별</a:t>
            </a:r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)</a:t>
            </a:r>
            <a:endParaRPr lang="ko-KR" altLang="en-US" sz="3000" dirty="0">
              <a:latin typeface="나눔고딕 ExtraBold" panose="020D0904000000000000" pitchFamily="50" charset="-127"/>
              <a:ea typeface="나눔고딕 ExtraBold" panose="020D0904000000000000" pitchFamily="50" charset="-127"/>
              <a:cs typeface="Microsoft GothicNeo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0567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16527-F13E-F82C-9B6A-4A2E8F62B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27EC382-5492-6885-9C04-11993AB97494}"/>
              </a:ext>
            </a:extLst>
          </p:cNvPr>
          <p:cNvSpPr txBox="1"/>
          <p:nvPr/>
        </p:nvSpPr>
        <p:spPr>
          <a:xfrm>
            <a:off x="1008063" y="514408"/>
            <a:ext cx="62001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10.15 </a:t>
            </a:r>
            <a:r>
              <a:rPr lang="ko-KR" altLang="en-US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부동산 대책 평가</a:t>
            </a:r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(</a:t>
            </a:r>
            <a:r>
              <a:rPr lang="ko-KR" altLang="en-US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집단별</a:t>
            </a:r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)</a:t>
            </a:r>
            <a:endParaRPr lang="ko-KR" altLang="en-US" sz="3000" dirty="0">
              <a:latin typeface="나눔고딕 ExtraBold" panose="020D0904000000000000" pitchFamily="50" charset="-127"/>
              <a:ea typeface="나눔고딕 ExtraBold" panose="020D0904000000000000" pitchFamily="50" charset="-127"/>
              <a:cs typeface="Microsoft GothicNeo" panose="020B0503020000020004" pitchFamily="34" charset="-127"/>
            </a:endParaRPr>
          </a:p>
        </p:txBody>
      </p:sp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934FD77C-F2B7-4683-8820-B189841A32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5763276"/>
              </p:ext>
            </p:extLst>
          </p:nvPr>
        </p:nvGraphicFramePr>
        <p:xfrm>
          <a:off x="1258887" y="936742"/>
          <a:ext cx="7419975" cy="5448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92556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37C98-FA25-0529-E1DB-C93EEAC1D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1689D11-C04C-B953-FB26-A1B4451988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453506"/>
              </p:ext>
            </p:extLst>
          </p:nvPr>
        </p:nvGraphicFramePr>
        <p:xfrm>
          <a:off x="211199" y="864523"/>
          <a:ext cx="9515351" cy="4775574"/>
        </p:xfrm>
        <a:graphic>
          <a:graphicData uri="http://schemas.openxmlformats.org/drawingml/2006/table">
            <a:tbl>
              <a:tblPr/>
              <a:tblGrid>
                <a:gridCol w="1274635">
                  <a:extLst>
                    <a:ext uri="{9D8B030D-6E8A-4147-A177-3AD203B41FA5}">
                      <a16:colId xmlns:a16="http://schemas.microsoft.com/office/drawing/2014/main" val="1659963494"/>
                    </a:ext>
                  </a:extLst>
                </a:gridCol>
                <a:gridCol w="1274635">
                  <a:extLst>
                    <a:ext uri="{9D8B030D-6E8A-4147-A177-3AD203B41FA5}">
                      <a16:colId xmlns:a16="http://schemas.microsoft.com/office/drawing/2014/main" val="3343249219"/>
                    </a:ext>
                  </a:extLst>
                </a:gridCol>
                <a:gridCol w="1058257">
                  <a:extLst>
                    <a:ext uri="{9D8B030D-6E8A-4147-A177-3AD203B41FA5}">
                      <a16:colId xmlns:a16="http://schemas.microsoft.com/office/drawing/2014/main" val="1603907149"/>
                    </a:ext>
                  </a:extLst>
                </a:gridCol>
                <a:gridCol w="3761898">
                  <a:extLst>
                    <a:ext uri="{9D8B030D-6E8A-4147-A177-3AD203B41FA5}">
                      <a16:colId xmlns:a16="http://schemas.microsoft.com/office/drawing/2014/main" val="3824962275"/>
                    </a:ext>
                  </a:extLst>
                </a:gridCol>
                <a:gridCol w="2145926">
                  <a:extLst>
                    <a:ext uri="{9D8B030D-6E8A-4147-A177-3AD203B41FA5}">
                      <a16:colId xmlns:a16="http://schemas.microsoft.com/office/drawing/2014/main" val="996231064"/>
                    </a:ext>
                  </a:extLst>
                </a:gridCol>
              </a:tblGrid>
              <a:tr h="4250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조사 기관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조사 날짜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조사방법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조사 문항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문구 전체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결과</a:t>
                      </a:r>
                      <a:endParaRPr lang="en-US" altLang="ko-KR" sz="1400" kern="0" spc="0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552181"/>
                  </a:ext>
                </a:extLst>
              </a:tr>
              <a:tr h="8081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한국갤럽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2025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10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21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~23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가상번호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전화면접</a:t>
                      </a:r>
                      <a:endParaRPr lang="en-US" altLang="ko-KR" sz="1400" kern="0" spc="0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(1000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명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부동산 공시가격에 따라 부과하는 재산세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일정 기준 이상 주택 보유자에 부과하는 종합부동산세를 일컬어 부동산 보유세라고 하는데요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귀하는 부동산 보유세를 어떻게 해야 한다고 보십니까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?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현재보다 높여야 한다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: 26% /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현재보다 낮춰야 한다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: 27% /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현 수준 유지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: 33% /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모름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응답거절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: 14%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0169596"/>
                  </a:ext>
                </a:extLst>
              </a:tr>
              <a:tr h="8081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ko-KR" sz="1400" kern="0" spc="0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"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일부에서는 부동산 보유세를 강화하고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주택을 거래할 때 발생하는 취득세나 양도소득세는 낮춰야 한다고 주장합니다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귀하는 이에 대해 어떻게 생각하십니까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?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찬성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: 54% /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반대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: 27% /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모름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응답거절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: 18%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554417"/>
                  </a:ext>
                </a:extLst>
              </a:tr>
              <a:tr h="8081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리얼미터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523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2025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10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23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~24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무선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RDD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－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ARS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(1001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명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부동산 시장 안정을 위해 보유세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재산세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종합부동산세 등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는 강화하고 거래세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취득세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양도소득세 등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는 완화하는 세제 개편 주장</a:t>
                      </a:r>
                      <a:endParaRPr lang="en-US" altLang="ko-KR" sz="1400" kern="0" spc="0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동의한다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48.9% /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동의하지 않는다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41.2%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01812"/>
                  </a:ext>
                </a:extLst>
              </a:tr>
              <a:tr h="6859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한국사회여론연구소 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(KSOI)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2025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10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27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~28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가상번호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-</a:t>
                      </a: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ARS(1002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명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"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이번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10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 부동산대책에는 세금을 통한 규제가 포함되어 있지 않습니다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귀하께서는 향후 수도권 집값 상승을 막기 위해 보유세를 강화하는 등 세제를 개편하는 것에 대해 어떻게 생각하십니까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?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찬성 합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매우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+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대체로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): 48.0% /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반대 합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대체로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+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매우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): 39.1% /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잘 모름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: 12.9%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025008"/>
                  </a:ext>
                </a:extLst>
              </a:tr>
              <a:tr h="10082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전국지표조사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NBS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2025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10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27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~29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</a:t>
                      </a:r>
                      <a:endParaRPr lang="en-US" altLang="ko-KR" sz="1400" kern="0" spc="0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가상번호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전화면접</a:t>
                      </a:r>
                      <a:endParaRPr lang="en-US" altLang="ko-KR" sz="1400" kern="0" spc="0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(1001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명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"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선생님께서는 주택을 거래할 때 발생하는 양도소득세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취등록세 등 거래세는 낮추고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일정 금액 이상의 주택에 대한 보유세를 높이는 방안에 대해서는 어떻게 생각하십니까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?"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찬성한다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: 52% /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반대한다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: 36% /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모름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무응답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: 12%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098131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2A9F0DF-A5A5-7ADF-3FDC-11E4345F79E2}"/>
              </a:ext>
            </a:extLst>
          </p:cNvPr>
          <p:cNvSpPr txBox="1"/>
          <p:nvPr/>
        </p:nvSpPr>
        <p:spPr>
          <a:xfrm>
            <a:off x="1028700" y="165272"/>
            <a:ext cx="62001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세제 개편 관련 의견</a:t>
            </a:r>
          </a:p>
        </p:txBody>
      </p:sp>
    </p:spTree>
    <p:extLst>
      <p:ext uri="{BB962C8B-B14F-4D97-AF65-F5344CB8AC3E}">
        <p14:creationId xmlns:p14="http://schemas.microsoft.com/office/powerpoint/2010/main" val="1999605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A2A31-FB17-CC97-AD5C-067D73579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7F1809A-D6A2-F802-B9A7-CD2FD219F0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099930"/>
              </p:ext>
            </p:extLst>
          </p:nvPr>
        </p:nvGraphicFramePr>
        <p:xfrm>
          <a:off x="211199" y="792437"/>
          <a:ext cx="9515351" cy="1912295"/>
        </p:xfrm>
        <a:graphic>
          <a:graphicData uri="http://schemas.openxmlformats.org/drawingml/2006/table">
            <a:tbl>
              <a:tblPr/>
              <a:tblGrid>
                <a:gridCol w="1274635">
                  <a:extLst>
                    <a:ext uri="{9D8B030D-6E8A-4147-A177-3AD203B41FA5}">
                      <a16:colId xmlns:a16="http://schemas.microsoft.com/office/drawing/2014/main" val="1659963494"/>
                    </a:ext>
                  </a:extLst>
                </a:gridCol>
                <a:gridCol w="1274635">
                  <a:extLst>
                    <a:ext uri="{9D8B030D-6E8A-4147-A177-3AD203B41FA5}">
                      <a16:colId xmlns:a16="http://schemas.microsoft.com/office/drawing/2014/main" val="3343249219"/>
                    </a:ext>
                  </a:extLst>
                </a:gridCol>
                <a:gridCol w="1058257">
                  <a:extLst>
                    <a:ext uri="{9D8B030D-6E8A-4147-A177-3AD203B41FA5}">
                      <a16:colId xmlns:a16="http://schemas.microsoft.com/office/drawing/2014/main" val="1603907149"/>
                    </a:ext>
                  </a:extLst>
                </a:gridCol>
                <a:gridCol w="3761898">
                  <a:extLst>
                    <a:ext uri="{9D8B030D-6E8A-4147-A177-3AD203B41FA5}">
                      <a16:colId xmlns:a16="http://schemas.microsoft.com/office/drawing/2014/main" val="3824962275"/>
                    </a:ext>
                  </a:extLst>
                </a:gridCol>
                <a:gridCol w="2145926">
                  <a:extLst>
                    <a:ext uri="{9D8B030D-6E8A-4147-A177-3AD203B41FA5}">
                      <a16:colId xmlns:a16="http://schemas.microsoft.com/office/drawing/2014/main" val="996231064"/>
                    </a:ext>
                  </a:extLst>
                </a:gridCol>
              </a:tblGrid>
              <a:tr h="5670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조사 기관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조사 날짜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조사방법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조사 문항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문구 전체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결과</a:t>
                      </a:r>
                      <a:endParaRPr lang="en-US" altLang="ko-KR" sz="1600" kern="0" spc="0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552181"/>
                  </a:ext>
                </a:extLst>
              </a:tr>
              <a:tr h="13452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전국지표조사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NBS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2025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10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27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~29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</a:t>
                      </a:r>
                      <a:endParaRPr lang="en-US" altLang="ko-KR" sz="1600" kern="0" spc="0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가상번호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전화면접</a:t>
                      </a:r>
                      <a:endParaRPr lang="en-US" altLang="ko-KR" sz="1600" kern="0" spc="0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(1001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명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"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 현재 우리나라 부동산 시장과 관련해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주택 공급 부족이 문제라는 시각도 있고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과도한 투기 수요가 문제라는 시각도 있습니다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.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선생님께서는 어느 문제가 상대적으로 더 크다고 보십니까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?"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부족한 주택 공급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: 22% /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과도한 투기성 수요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: 69% /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모름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무응답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: 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098131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233EB47-7C98-A9B0-84B8-23E9360A72E3}"/>
              </a:ext>
            </a:extLst>
          </p:cNvPr>
          <p:cNvSpPr txBox="1"/>
          <p:nvPr/>
        </p:nvSpPr>
        <p:spPr>
          <a:xfrm>
            <a:off x="1028700" y="165272"/>
            <a:ext cx="62001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부동산 시장 불안정의 원인</a:t>
            </a:r>
          </a:p>
        </p:txBody>
      </p:sp>
    </p:spTree>
    <p:extLst>
      <p:ext uri="{BB962C8B-B14F-4D97-AF65-F5344CB8AC3E}">
        <p14:creationId xmlns:p14="http://schemas.microsoft.com/office/powerpoint/2010/main" val="1992556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AEAD8-4D8A-E7C9-E395-1719DA115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F43683A-8941-5FA9-0D4D-6BC17DB0B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781870"/>
              </p:ext>
            </p:extLst>
          </p:nvPr>
        </p:nvGraphicFramePr>
        <p:xfrm>
          <a:off x="210539" y="825686"/>
          <a:ext cx="9548603" cy="3905689"/>
        </p:xfrm>
        <a:graphic>
          <a:graphicData uri="http://schemas.openxmlformats.org/drawingml/2006/table">
            <a:tbl>
              <a:tblPr/>
              <a:tblGrid>
                <a:gridCol w="1308974">
                  <a:extLst>
                    <a:ext uri="{9D8B030D-6E8A-4147-A177-3AD203B41FA5}">
                      <a16:colId xmlns:a16="http://schemas.microsoft.com/office/drawing/2014/main" val="3343249219"/>
                    </a:ext>
                  </a:extLst>
                </a:gridCol>
                <a:gridCol w="4773222">
                  <a:extLst>
                    <a:ext uri="{9D8B030D-6E8A-4147-A177-3AD203B41FA5}">
                      <a16:colId xmlns:a16="http://schemas.microsoft.com/office/drawing/2014/main" val="3824962275"/>
                    </a:ext>
                  </a:extLst>
                </a:gridCol>
                <a:gridCol w="1155469">
                  <a:extLst>
                    <a:ext uri="{9D8B030D-6E8A-4147-A177-3AD203B41FA5}">
                      <a16:colId xmlns:a16="http://schemas.microsoft.com/office/drawing/2014/main" val="996231064"/>
                    </a:ext>
                  </a:extLst>
                </a:gridCol>
                <a:gridCol w="1155469">
                  <a:extLst>
                    <a:ext uri="{9D8B030D-6E8A-4147-A177-3AD203B41FA5}">
                      <a16:colId xmlns:a16="http://schemas.microsoft.com/office/drawing/2014/main" val="2172065913"/>
                    </a:ext>
                  </a:extLst>
                </a:gridCol>
                <a:gridCol w="1155469">
                  <a:extLst>
                    <a:ext uri="{9D8B030D-6E8A-4147-A177-3AD203B41FA5}">
                      <a16:colId xmlns:a16="http://schemas.microsoft.com/office/drawing/2014/main" val="4271885677"/>
                    </a:ext>
                  </a:extLst>
                </a:gridCol>
              </a:tblGrid>
              <a:tr h="5670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조사 날짜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조사 문항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문구 전체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잘하고 있다</a:t>
                      </a:r>
                      <a:endParaRPr lang="en-US" altLang="ko-KR" sz="1600" kern="0" spc="0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효과있음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잘못하고 있다</a:t>
                      </a:r>
                      <a:endParaRPr lang="en-US" altLang="ko-KR" sz="1600" kern="0" spc="0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효과없음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의견유보</a:t>
                      </a:r>
                      <a:endParaRPr lang="en-US" altLang="ko-KR" sz="1600" kern="0" spc="0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552181"/>
                  </a:ext>
                </a:extLst>
              </a:tr>
              <a:tr h="13452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2025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7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8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~10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</a:t>
                      </a:r>
                      <a:endParaRPr lang="en-US" altLang="ko-KR" sz="1600" kern="0" spc="0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"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귀하는 현 정부가 부동산 정책을 잘하고 있다고 보십니까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잘못하고 있다고 보십니까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?"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119601"/>
                  </a:ext>
                </a:extLst>
              </a:tr>
              <a:tr h="10782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2025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9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9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~11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"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귀하는 현 정부가 부동산 정책을 잘하고 있다고 보십니까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잘못하고 있다고 보십니까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?"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0169596"/>
                  </a:ext>
                </a:extLst>
              </a:tr>
              <a:tr h="9151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2025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10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21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~23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523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"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지난주 정부가 부동산 규제 지역 확대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주택담보대출 한도 제한 강화 등 주택시장 안정화 대책을 발표했습니다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귀하는 이번 부동산 대책에 대해 어떻게 생각하십니까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?"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5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02500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91DFD01-9DD2-514C-0972-3222D95958FE}"/>
              </a:ext>
            </a:extLst>
          </p:cNvPr>
          <p:cNvSpPr txBox="1"/>
          <p:nvPr/>
        </p:nvSpPr>
        <p:spPr>
          <a:xfrm>
            <a:off x="1028700" y="165272"/>
            <a:ext cx="62001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부동산 정책 평가의 변화</a:t>
            </a:r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(</a:t>
            </a:r>
            <a:r>
              <a:rPr lang="ko-KR" altLang="en-US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갤럽</a:t>
            </a:r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)</a:t>
            </a:r>
            <a:endParaRPr lang="ko-KR" altLang="en-US" sz="3000" dirty="0">
              <a:latin typeface="나눔고딕 ExtraBold" panose="020D0904000000000000" pitchFamily="50" charset="-127"/>
              <a:ea typeface="나눔고딕 ExtraBold" panose="020D0904000000000000" pitchFamily="50" charset="-127"/>
              <a:cs typeface="Microsoft GothicNeo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5899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CE100-361D-1A27-6525-382DE8E61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EA0DA70E-AD0C-BDBA-EF63-8076C889B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680" y="0"/>
            <a:ext cx="6394365" cy="61912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212A8D-4B68-BB34-9AD3-EAA7E4E3A429}"/>
              </a:ext>
            </a:extLst>
          </p:cNvPr>
          <p:cNvSpPr txBox="1"/>
          <p:nvPr/>
        </p:nvSpPr>
        <p:spPr>
          <a:xfrm>
            <a:off x="282632" y="4214465"/>
            <a:ext cx="29011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전국 유권자 약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1,000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명 전화조사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(CATI). 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Net Score: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순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純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지수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b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궁정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부정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상승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하락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격차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정책평가는 ‘긍정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부정’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점 척도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b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집값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임대료 전망은 각 항목 ‘비슷할 것’ 포함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점척도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한국갤럽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데일리오피니언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제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590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호</a:t>
            </a:r>
          </a:p>
        </p:txBody>
      </p:sp>
    </p:spTree>
    <p:extLst>
      <p:ext uri="{BB962C8B-B14F-4D97-AF65-F5344CB8AC3E}">
        <p14:creationId xmlns:p14="http://schemas.microsoft.com/office/powerpoint/2010/main" val="3307878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71AE1-A7C4-549D-0F08-30E3068AD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6B9F177-6E17-A171-8C50-11FBA4023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181" y="1804807"/>
            <a:ext cx="7163800" cy="25816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C0051A-6C2C-5100-2E30-34C5F6C34061}"/>
              </a:ext>
            </a:extLst>
          </p:cNvPr>
          <p:cNvSpPr txBox="1"/>
          <p:nvPr/>
        </p:nvSpPr>
        <p:spPr>
          <a:xfrm>
            <a:off x="1028700" y="688975"/>
            <a:ext cx="62001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부동산시장 소비심리지수</a:t>
            </a:r>
          </a:p>
        </p:txBody>
      </p:sp>
    </p:spTree>
    <p:extLst>
      <p:ext uri="{BB962C8B-B14F-4D97-AF65-F5344CB8AC3E}">
        <p14:creationId xmlns:p14="http://schemas.microsoft.com/office/powerpoint/2010/main" val="3209240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02CD6-23AE-4F0B-89A4-5FFE4EC44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C15F4080-648E-4940-3DA3-8060761B3F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8850914"/>
              </p:ext>
            </p:extLst>
          </p:nvPr>
        </p:nvGraphicFramePr>
        <p:xfrm>
          <a:off x="1450634" y="1324320"/>
          <a:ext cx="7034894" cy="4190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4B5F4C5-1946-E2C6-84D7-4929BCCFC9B5}"/>
              </a:ext>
            </a:extLst>
          </p:cNvPr>
          <p:cNvSpPr txBox="1"/>
          <p:nvPr/>
        </p:nvSpPr>
        <p:spPr>
          <a:xfrm>
            <a:off x="1028700" y="688975"/>
            <a:ext cx="75666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부동산시장 소비심리지수</a:t>
            </a:r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(2017</a:t>
            </a:r>
            <a:r>
              <a:rPr lang="ko-KR" altLang="en-US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년 </a:t>
            </a:r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5</a:t>
            </a:r>
            <a:r>
              <a:rPr lang="ko-KR" altLang="en-US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월 이후</a:t>
            </a:r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)</a:t>
            </a:r>
            <a:endParaRPr lang="ko-KR" altLang="en-US" sz="3000" dirty="0">
              <a:latin typeface="나눔고딕 ExtraBold" panose="020D0904000000000000" pitchFamily="50" charset="-127"/>
              <a:ea typeface="나눔고딕 ExtraBold" panose="020D0904000000000000" pitchFamily="50" charset="-127"/>
              <a:cs typeface="Microsoft GothicNeo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5218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FD280-244F-87E9-3570-273490B77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6BCF0E2-4C1E-3CBE-280D-D65FE3413D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15"/>
          <a:stretch>
            <a:fillRect/>
          </a:stretch>
        </p:blipFill>
        <p:spPr>
          <a:xfrm>
            <a:off x="124691" y="1282611"/>
            <a:ext cx="3773132" cy="454461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B450241-10D5-0D76-C232-9251DC5BF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1078" y="780528"/>
            <a:ext cx="6459085" cy="51788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8BB8D9-DC7D-142C-8EC6-39083E360E40}"/>
              </a:ext>
            </a:extLst>
          </p:cNvPr>
          <p:cNvSpPr txBox="1"/>
          <p:nvPr/>
        </p:nvSpPr>
        <p:spPr>
          <a:xfrm>
            <a:off x="1008063" y="200573"/>
            <a:ext cx="62001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KB </a:t>
            </a:r>
            <a:r>
              <a:rPr lang="ko-KR" altLang="en-US" sz="3000" dirty="0">
                <a:latin typeface="나눔고딕 ExtraBold" panose="020D0904000000000000" pitchFamily="50" charset="-127"/>
                <a:ea typeface="나눔고딕 ExtraBold" panose="020D0904000000000000" pitchFamily="50" charset="-127"/>
                <a:cs typeface="Microsoft GothicNeo" panose="020B0503020000020004" pitchFamily="34" charset="-127"/>
              </a:rPr>
              <a:t>전국 매매 가격 전망 지수</a:t>
            </a:r>
          </a:p>
        </p:txBody>
      </p:sp>
    </p:spTree>
    <p:extLst>
      <p:ext uri="{BB962C8B-B14F-4D97-AF65-F5344CB8AC3E}">
        <p14:creationId xmlns:p14="http://schemas.microsoft.com/office/powerpoint/2010/main" val="399946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244DB-1CBF-29AA-4F95-CEF380110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한은 &quot;집값 불패 심리… 합리적 기대 벗어나&quot;">
            <a:extLst>
              <a:ext uri="{FF2B5EF4-FFF2-40B4-BE49-F238E27FC236}">
                <a16:creationId xmlns:a16="http://schemas.microsoft.com/office/drawing/2014/main" id="{504B58BA-C940-0BC0-B18D-6113E56DD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647700"/>
            <a:ext cx="6353175" cy="489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987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371C9C2FFDF794E8056B161791D734D" ma:contentTypeVersion="13" ma:contentTypeDescription="새 문서를 만듭니다." ma:contentTypeScope="" ma:versionID="3d4077997111627e357d54f7a812e4e1">
  <xsd:schema xmlns:xsd="http://www.w3.org/2001/XMLSchema" xmlns:xs="http://www.w3.org/2001/XMLSchema" xmlns:p="http://schemas.microsoft.com/office/2006/metadata/properties" xmlns:ns2="6ba5b7cd-06ee-4039-a1b0-672e4b41fa95" xmlns:ns3="e48ab9bc-8a1f-46c2-b918-4b6b3fdfebe9" targetNamespace="http://schemas.microsoft.com/office/2006/metadata/properties" ma:root="true" ma:fieldsID="0f6d267b5727098b2aa471db459fc6db" ns2:_="" ns3:_="">
    <xsd:import namespace="6ba5b7cd-06ee-4039-a1b0-672e4b41fa95"/>
    <xsd:import namespace="e48ab9bc-8a1f-46c2-b918-4b6b3fdfebe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a5b7cd-06ee-4039-a1b0-672e4b41fa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c8710202-2179-478c-b032-76479c6ca4d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8ab9bc-8a1f-46c2-b918-4b6b3fdfebe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c3a44fe-87fa-47c5-87d8-f5fff331fa76}" ma:internalName="TaxCatchAll" ma:showField="CatchAllData" ma:web="e48ab9bc-8a1f-46c2-b918-4b6b3fdfebe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48ab9bc-8a1f-46c2-b918-4b6b3fdfebe9" xsi:nil="true"/>
    <lcf76f155ced4ddcb4097134ff3c332f xmlns="6ba5b7cd-06ee-4039-a1b0-672e4b41fa9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4526590-E212-4A30-B701-94730433A9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a5b7cd-06ee-4039-a1b0-672e4b41fa95"/>
    <ds:schemaRef ds:uri="e48ab9bc-8a1f-46c2-b918-4b6b3fdfeb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64647F-327A-4CA5-B54E-6209D77EF8BD}">
  <ds:schemaRefs>
    <ds:schemaRef ds:uri="http://www.w3.org/XML/1998/namespace"/>
    <ds:schemaRef ds:uri="http://schemas.openxmlformats.org/package/2006/metadata/core-properties"/>
    <ds:schemaRef ds:uri="http://purl.org/dc/terms/"/>
    <ds:schemaRef ds:uri="6ba5b7cd-06ee-4039-a1b0-672e4b41fa95"/>
    <ds:schemaRef ds:uri="http://schemas.microsoft.com/office/2006/documentManagement/types"/>
    <ds:schemaRef ds:uri="http://schemas.microsoft.com/office/infopath/2007/PartnerControls"/>
    <ds:schemaRef ds:uri="e48ab9bc-8a1f-46c2-b918-4b6b3fdfebe9"/>
    <ds:schemaRef ds:uri="http://schemas.microsoft.com/office/2006/metadata/properties"/>
    <ds:schemaRef ds:uri="http://purl.org/dc/dcmitype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29F17751-1FD3-44EE-B69F-117954C55E1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2560</TotalTime>
  <Words>1139</Words>
  <Application>Microsoft Office PowerPoint</Application>
  <PresentationFormat>사용자 지정</PresentationFormat>
  <Paragraphs>154</Paragraphs>
  <Slides>17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나눔고딕 ExtraBold</vt:lpstr>
      <vt:lpstr>나눔바른고딕</vt:lpstr>
      <vt:lpstr>나눔바른고딕 Light</vt:lpstr>
      <vt:lpstr>맑은 고딕</vt:lpstr>
      <vt:lpstr>Aptos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 진실</dc:creator>
  <cp:lastModifiedBy>김 진실</cp:lastModifiedBy>
  <cp:revision>5</cp:revision>
  <dcterms:created xsi:type="dcterms:W3CDTF">2025-04-28T12:40:00Z</dcterms:created>
  <dcterms:modified xsi:type="dcterms:W3CDTF">2026-02-19T08:00:28Z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0x0101003371C9C2FFDF794E8056B161791D734D</vt:lpwstr>
  </property>
  <property fmtid="{D5CDD505-2E9C-101B-9397-08002B2CF9AE}" pid="3" name="MediaServiceImageTags">
    <vt:lpwstr/>
  </property>
</Properties>
</file>